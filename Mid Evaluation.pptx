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embeddedFontLst>
    <p:embeddedFont>
      <p:font typeface="Roboto Slab"/>
      <p:regular r:id="rId31"/>
      <p:bold r:id="rId32"/>
    </p:embeddedFont>
    <p:embeddedFont>
      <p:font typeface="Roboto Slab Light"/>
      <p:regular r:id="rId33"/>
      <p:bold r:id="rId34"/>
    </p:embeddedFont>
    <p:embeddedFont>
      <p:font typeface="Roboto Slab Medium"/>
      <p:regular r:id="rId35"/>
      <p:bold r:id="rId36"/>
    </p:embeddedFont>
    <p:embeddedFont>
      <p:font typeface="Comforta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704102-5F82-4F41-A2BE-21A74A32E111}">
  <a:tblStyle styleId="{F4704102-5F82-4F41-A2BE-21A74A32E1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Slab-regular.fnt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RobotoSlabLight-regular.fntdata"/><Relationship Id="rId10" Type="http://schemas.openxmlformats.org/officeDocument/2006/relationships/slide" Target="slides/slide3.xml"/><Relationship Id="rId32" Type="http://schemas.openxmlformats.org/officeDocument/2006/relationships/font" Target="fonts/RobotoSlab-bold.fntdata"/><Relationship Id="rId13" Type="http://schemas.openxmlformats.org/officeDocument/2006/relationships/slide" Target="slides/slide6.xml"/><Relationship Id="rId35" Type="http://schemas.openxmlformats.org/officeDocument/2006/relationships/font" Target="fonts/RobotoSlabMedium-regular.fntdata"/><Relationship Id="rId12" Type="http://schemas.openxmlformats.org/officeDocument/2006/relationships/slide" Target="slides/slide5.xml"/><Relationship Id="rId34" Type="http://schemas.openxmlformats.org/officeDocument/2006/relationships/font" Target="fonts/RobotoSlabLight-bold.fntdata"/><Relationship Id="rId15" Type="http://schemas.openxmlformats.org/officeDocument/2006/relationships/slide" Target="slides/slide8.xml"/><Relationship Id="rId37" Type="http://schemas.openxmlformats.org/officeDocument/2006/relationships/font" Target="fonts/Comfortaa-regular.fntdata"/><Relationship Id="rId14" Type="http://schemas.openxmlformats.org/officeDocument/2006/relationships/slide" Target="slides/slide7.xml"/><Relationship Id="rId36" Type="http://schemas.openxmlformats.org/officeDocument/2006/relationships/font" Target="fonts/RobotoSlabMedium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Comfortaa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69598ab81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69598ab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69598ab81_0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669598ab8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790548723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679054872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798dda9ed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6798dda9ed_1_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798dda9ed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6798dda9ed_1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798dda9ed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6798dda9ed_1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798dda9ed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6798dda9ed_1_1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fda085fb6_582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fda085fb6_58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6798dda9ed_4_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6798dda9ed_4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abf1dbd179_0_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abf1dbd17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19" r="19" t="0"/>
          <a:stretch/>
        </p:blipFill>
        <p:spPr>
          <a:xfrm flipH="1" rot="10800000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i="1" sz="3600"/>
            </a:lvl1pPr>
            <a:lvl2pPr indent="-4572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i="1" sz="3600"/>
            </a:lvl2pPr>
            <a:lvl3pPr indent="-4572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i="1" sz="3600"/>
            </a:lvl3pPr>
            <a:lvl4pPr indent="-457200" lvl="3" marL="18288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4pPr>
            <a:lvl5pPr indent="-457200" lvl="4" marL="22860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5pPr>
            <a:lvl6pPr indent="-457200" lvl="5" marL="27432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6pPr>
            <a:lvl7pPr indent="-457200" lvl="6" marL="32004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7pPr>
            <a:lvl8pPr indent="-457200" lvl="7" marL="36576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32" name="Google Shape;32;p4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b="1" sz="60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4"/>
          <p:cNvCxnSpPr/>
          <p:nvPr/>
        </p:nvCxnSpPr>
        <p:spPr>
          <a:xfrm flipH="1" rot="10800000">
            <a:off x="4704510" y="351930"/>
            <a:ext cx="347100" cy="474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-87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" type="body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-92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ctrTitle"/>
          </p:nvPr>
        </p:nvSpPr>
        <p:spPr>
          <a:xfrm>
            <a:off x="1700185" y="1991850"/>
            <a:ext cx="5807475" cy="115987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72" name="Google Shape;72;p13"/>
          <p:cNvSpPr/>
          <p:nvPr/>
        </p:nvSpPr>
        <p:spPr>
          <a:xfrm>
            <a:off x="7337531" y="4630074"/>
            <a:ext cx="96300" cy="96075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7790243" y="4182401"/>
            <a:ext cx="96300" cy="96075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8771302" y="4923775"/>
            <a:ext cx="96300" cy="96075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2386266" y="508134"/>
            <a:ext cx="96300" cy="96075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479460" y="2703980"/>
            <a:ext cx="96300" cy="96075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261540" y="643097"/>
            <a:ext cx="96300" cy="96075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507235" y="1080863"/>
            <a:ext cx="192600" cy="192375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8314019" y="3625322"/>
            <a:ext cx="144225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8882858" y="4186761"/>
            <a:ext cx="144225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1396483" y="226428"/>
            <a:ext cx="192600" cy="192375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8014029" y="4567546"/>
            <a:ext cx="192600" cy="192375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ctrTitle"/>
          </p:nvPr>
        </p:nvSpPr>
        <p:spPr>
          <a:xfrm>
            <a:off x="1546025" y="1754794"/>
            <a:ext cx="5832675" cy="115987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1546025" y="3011511"/>
            <a:ext cx="5832675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 rotWithShape="1">
          <a:blip r:embed="rId2">
            <a:alphaModFix/>
          </a:blip>
          <a:srcRect b="0" l="19" r="19" t="0"/>
          <a:stretch/>
        </p:blipFill>
        <p:spPr>
          <a:xfrm flipH="1" rot="10800000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1215300" y="1723650"/>
            <a:ext cx="6713325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i="1" sz="3600"/>
            </a:lvl1pPr>
            <a:lvl2pPr indent="-457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i="1" sz="3600"/>
            </a:lvl2pPr>
            <a:lvl3pPr indent="-457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i="1" sz="3600"/>
            </a:lvl3pPr>
            <a:lvl4pPr indent="-457200" lvl="3" marL="18288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4pPr>
            <a:lvl5pPr indent="-457200" lvl="4" marL="22860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5pPr>
            <a:lvl6pPr indent="-457200" lvl="5" marL="2743200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6pPr>
            <a:lvl7pPr indent="-457200" lvl="6" marL="32004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7pPr>
            <a:lvl8pPr indent="-457200" lvl="7" marL="36576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93" name="Google Shape;93;p15"/>
          <p:cNvGrpSpPr/>
          <p:nvPr/>
        </p:nvGrpSpPr>
        <p:grpSpPr>
          <a:xfrm>
            <a:off x="3839556" y="782918"/>
            <a:ext cx="1464524" cy="842707"/>
            <a:chOff x="3593400" y="1729675"/>
            <a:chExt cx="1957200" cy="1123610"/>
          </a:xfrm>
        </p:grpSpPr>
        <p:sp>
          <p:nvSpPr>
            <p:cNvPr id="94" name="Google Shape;94;p15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b="1" sz="60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7" name="Google Shape;97;p15"/>
          <p:cNvCxnSpPr>
            <a:endCxn id="95" idx="1"/>
          </p:cNvCxnSpPr>
          <p:nvPr/>
        </p:nvCxnSpPr>
        <p:spPr>
          <a:xfrm>
            <a:off x="3750406" y="390297"/>
            <a:ext cx="532200" cy="5355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5"/>
          <p:cNvCxnSpPr/>
          <p:nvPr/>
        </p:nvCxnSpPr>
        <p:spPr>
          <a:xfrm rot="10800000">
            <a:off x="4362977" y="436050"/>
            <a:ext cx="209025" cy="369675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5"/>
          <p:cNvCxnSpPr/>
          <p:nvPr/>
        </p:nvCxnSpPr>
        <p:spPr>
          <a:xfrm flipH="1" rot="10800000">
            <a:off x="4704510" y="352005"/>
            <a:ext cx="347175" cy="474525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-87" y="4749844"/>
            <a:ext cx="9144000" cy="393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786150" y="308120"/>
            <a:ext cx="7571700" cy="70267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786150" y="1261700"/>
            <a:ext cx="7571700" cy="357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8404384" y="4749851"/>
            <a:ext cx="548775" cy="393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786150" y="308120"/>
            <a:ext cx="7571700" cy="70267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786137" y="1200150"/>
            <a:ext cx="3675375" cy="3725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08" name="Google Shape;108;p17"/>
          <p:cNvSpPr txBox="1"/>
          <p:nvPr>
            <p:ph idx="2" type="body"/>
          </p:nvPr>
        </p:nvSpPr>
        <p:spPr>
          <a:xfrm>
            <a:off x="4682659" y="1200150"/>
            <a:ext cx="3675375" cy="3725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404384" y="4749851"/>
            <a:ext cx="548775" cy="393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786150" y="308120"/>
            <a:ext cx="7571700" cy="70267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786150" y="1200150"/>
            <a:ext cx="2419875" cy="3725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2" type="body"/>
          </p:nvPr>
        </p:nvSpPr>
        <p:spPr>
          <a:xfrm>
            <a:off x="3329992" y="1200150"/>
            <a:ext cx="2419875" cy="3725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3" type="body"/>
          </p:nvPr>
        </p:nvSpPr>
        <p:spPr>
          <a:xfrm>
            <a:off x="5873834" y="1200150"/>
            <a:ext cx="2419875" cy="3725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04384" y="4749851"/>
            <a:ext cx="548775" cy="393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786150" y="308120"/>
            <a:ext cx="7571700" cy="70267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04384" y="4749851"/>
            <a:ext cx="548775" cy="393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457200" y="4055343"/>
            <a:ext cx="8229600" cy="368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-92" y="4749844"/>
            <a:ext cx="9144000" cy="393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04384" y="4749851"/>
            <a:ext cx="548775" cy="393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04384" y="4749851"/>
            <a:ext cx="548775" cy="393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ctrTitle"/>
          </p:nvPr>
        </p:nvSpPr>
        <p:spPr>
          <a:xfrm>
            <a:off x="1143000" y="841772"/>
            <a:ext cx="6858000" cy="179077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" type="subTitle"/>
          </p:nvPr>
        </p:nvSpPr>
        <p:spPr>
          <a:xfrm>
            <a:off x="1143000" y="2701528"/>
            <a:ext cx="6858000" cy="1241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23"/>
          <p:cNvSpPr txBox="1"/>
          <p:nvPr>
            <p:ph idx="10" type="dt"/>
          </p:nvPr>
        </p:nvSpPr>
        <p:spPr>
          <a:xfrm>
            <a:off x="6286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1" name="Google Shape;131;p23"/>
          <p:cNvSpPr txBox="1"/>
          <p:nvPr>
            <p:ph idx="11" type="ftr"/>
          </p:nvPr>
        </p:nvSpPr>
        <p:spPr>
          <a:xfrm>
            <a:off x="3028950" y="4767263"/>
            <a:ext cx="30861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628650" y="273844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◎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◉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0" type="dt"/>
          </p:nvPr>
        </p:nvSpPr>
        <p:spPr>
          <a:xfrm>
            <a:off x="6286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7" name="Google Shape;137;p24"/>
          <p:cNvSpPr txBox="1"/>
          <p:nvPr>
            <p:ph idx="11" type="ftr"/>
          </p:nvPr>
        </p:nvSpPr>
        <p:spPr>
          <a:xfrm>
            <a:off x="3028950" y="4767263"/>
            <a:ext cx="30861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629841" y="273844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629841" y="1260872"/>
            <a:ext cx="3868425" cy="6178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629841" y="1878806"/>
            <a:ext cx="3868425" cy="2763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◎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◉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3" type="body"/>
          </p:nvPr>
        </p:nvSpPr>
        <p:spPr>
          <a:xfrm>
            <a:off x="4629150" y="1260872"/>
            <a:ext cx="3887325" cy="6178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4629150" y="1878806"/>
            <a:ext cx="3887325" cy="2763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◎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◉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0" type="dt"/>
          </p:nvPr>
        </p:nvSpPr>
        <p:spPr>
          <a:xfrm>
            <a:off x="6286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6" name="Google Shape;146;p25"/>
          <p:cNvSpPr txBox="1"/>
          <p:nvPr>
            <p:ph idx="11" type="ftr"/>
          </p:nvPr>
        </p:nvSpPr>
        <p:spPr>
          <a:xfrm>
            <a:off x="3028950" y="4767263"/>
            <a:ext cx="30861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154" name="Google Shape;154;p27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7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7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7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171" name="Google Shape;171;p28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9"/>
          <p:cNvPicPr preferRelativeResize="0"/>
          <p:nvPr/>
        </p:nvPicPr>
        <p:blipFill rotWithShape="1">
          <a:blip r:embed="rId2">
            <a:alphaModFix/>
          </a:blip>
          <a:srcRect b="0" l="19" r="19" t="0"/>
          <a:stretch/>
        </p:blipFill>
        <p:spPr>
          <a:xfrm flipH="1" rot="10800000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i="1" sz="3600"/>
            </a:lvl1pPr>
            <a:lvl2pPr indent="-457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i="1" sz="3600"/>
            </a:lvl2pPr>
            <a:lvl3pPr indent="-457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i="1" sz="3600"/>
            </a:lvl3pPr>
            <a:lvl4pPr indent="-457200" lvl="3" marL="18288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4pPr>
            <a:lvl5pPr indent="-457200" lvl="4" marL="22860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5pPr>
            <a:lvl6pPr indent="-457200" lvl="5" marL="2743200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6pPr>
            <a:lvl7pPr indent="-457200" lvl="6" marL="32004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7pPr>
            <a:lvl8pPr indent="-457200" lvl="7" marL="36576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175" name="Google Shape;175;p29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176" name="Google Shape;176;p29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b="1" sz="60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77" name="Google Shape;177;p29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9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9" name="Google Shape;179;p29"/>
          <p:cNvCxnSpPr>
            <a:endCxn id="177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9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9"/>
          <p:cNvCxnSpPr/>
          <p:nvPr/>
        </p:nvCxnSpPr>
        <p:spPr>
          <a:xfrm flipH="1" rot="10800000">
            <a:off x="4704510" y="351930"/>
            <a:ext cx="347100" cy="474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9"/>
          <p:cNvSpPr txBox="1"/>
          <p:nvPr>
            <p:ph idx="12" type="sldNum"/>
          </p:nvPr>
        </p:nvSpPr>
        <p:spPr>
          <a:xfrm>
            <a:off x="-87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6" name="Google Shape;186;p3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90" name="Google Shape;190;p31"/>
          <p:cNvSpPr txBox="1"/>
          <p:nvPr>
            <p:ph idx="2" type="body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6" name="Google Shape;196;p32"/>
          <p:cNvSpPr txBox="1"/>
          <p:nvPr>
            <p:ph idx="3" type="body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-92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786150" y="308120"/>
            <a:ext cx="7571700" cy="7026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786150" y="1261700"/>
            <a:ext cx="7571700" cy="357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4043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4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Relationship Id="rId8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i.org/10.3390/electronics13020326" TargetMode="External"/><Relationship Id="rId4" Type="http://schemas.openxmlformats.org/officeDocument/2006/relationships/hyperlink" Target="https://doi.org/10.3389/fphys.2023.1246746" TargetMode="External"/><Relationship Id="rId5" Type="http://schemas.openxmlformats.org/officeDocument/2006/relationships/hyperlink" Target="https://doi.org/10.3390/healthcare8040437" TargetMode="External"/><Relationship Id="rId6" Type="http://schemas.openxmlformats.org/officeDocument/2006/relationships/hyperlink" Target="https://doi.org/10.3389/fphys.2022.850951" TargetMode="External"/><Relationship Id="rId7" Type="http://schemas.openxmlformats.org/officeDocument/2006/relationships/hyperlink" Target="https://paperswithcode.com/paper/reading-between-the-leads-local-lead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ctrTitle"/>
          </p:nvPr>
        </p:nvSpPr>
        <p:spPr>
          <a:xfrm>
            <a:off x="849450" y="1850925"/>
            <a:ext cx="74451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/>
              <a:t>Integrating Multi-Sensor Data and Cardiovascular System Modeling for Machine Learning Based Prediction of Cardiovascular Disease</a:t>
            </a:r>
            <a:endParaRPr b="0" sz="1800"/>
          </a:p>
        </p:txBody>
      </p:sp>
      <p:sp>
        <p:nvSpPr>
          <p:cNvPr id="214" name="Google Shape;214;p37"/>
          <p:cNvSpPr txBox="1"/>
          <p:nvPr/>
        </p:nvSpPr>
        <p:spPr>
          <a:xfrm>
            <a:off x="143275" y="4288625"/>
            <a:ext cx="34641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E9E9E"/>
                </a:solidFill>
                <a:latin typeface="Comfortaa"/>
                <a:ea typeface="Comfortaa"/>
                <a:cs typeface="Comfortaa"/>
                <a:sym typeface="Comfortaa"/>
              </a:rPr>
              <a:t>Mid Evaluation</a:t>
            </a:r>
            <a:endParaRPr sz="2100">
              <a:solidFill>
                <a:srgbClr val="9E9E9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E9E9E"/>
                </a:solidFill>
                <a:latin typeface="Comfortaa"/>
                <a:ea typeface="Comfortaa"/>
                <a:cs typeface="Comfortaa"/>
                <a:sym typeface="Comfortaa"/>
              </a:rPr>
              <a:t>Group 34</a:t>
            </a:r>
            <a:endParaRPr sz="2100">
              <a:solidFill>
                <a:srgbClr val="9E9E9E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786150" y="30809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Introduction</a:t>
            </a:r>
            <a:endParaRPr b="1" sz="4000"/>
          </a:p>
        </p:txBody>
      </p:sp>
      <p:sp>
        <p:nvSpPr>
          <p:cNvPr id="220" name="Google Shape;220;p38"/>
          <p:cNvSpPr txBox="1"/>
          <p:nvPr/>
        </p:nvSpPr>
        <p:spPr>
          <a:xfrm>
            <a:off x="721075" y="1010700"/>
            <a:ext cx="8232000" cy="3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Objective :</a:t>
            </a:r>
            <a:endParaRPr b="1" sz="2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To develop a non-invasive, multi-sensor system that integrates physiological data like pulse waveforms (PPG), ECG, and heart sounds(PCG) with machine learning to improve early detection of cardiovascular diseases (CVD) and enhance early prediction accuracy.</a:t>
            </a:r>
            <a:endParaRPr>
              <a:latin typeface="Roboto Slab Light"/>
              <a:ea typeface="Roboto Slab Light"/>
              <a:cs typeface="Roboto Slab Light"/>
              <a:sym typeface="Roboto Slab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Motivation :</a:t>
            </a:r>
            <a:endParaRPr b="1" sz="2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Cardiovascular diseases have become the leading cause of death globally</a:t>
            </a:r>
            <a:br>
              <a:rPr lang="en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Early prediction of CVD can improve patient outcomes.</a:t>
            </a:r>
            <a:br>
              <a:rPr lang="en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</a:br>
            <a:r>
              <a:rPr lang="en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ECG, PCG, and PPG carry critical diagnostic information that aid in early detection of CVD</a:t>
            </a:r>
            <a:endParaRPr>
              <a:solidFill>
                <a:schemeClr val="dk1"/>
              </a:solidFill>
              <a:latin typeface="Roboto Slab Light"/>
              <a:ea typeface="Roboto Slab Light"/>
              <a:cs typeface="Roboto Slab Light"/>
              <a:sym typeface="Roboto Slab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999999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1" name="Google Shape;221;p3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/>
          <p:nvPr/>
        </p:nvSpPr>
        <p:spPr>
          <a:xfrm>
            <a:off x="5880381" y="2562025"/>
            <a:ext cx="1381800" cy="1365600"/>
          </a:xfrm>
          <a:prstGeom prst="ellipse">
            <a:avLst/>
          </a:prstGeom>
          <a:noFill/>
          <a:ln cap="flat" cmpd="sng" w="9525">
            <a:solidFill>
              <a:srgbClr val="CFD8D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9"/>
          <p:cNvSpPr txBox="1"/>
          <p:nvPr>
            <p:ph idx="4294967295" type="ctrTitle"/>
          </p:nvPr>
        </p:nvSpPr>
        <p:spPr>
          <a:xfrm>
            <a:off x="416225" y="123025"/>
            <a:ext cx="6068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	Problem Statement</a:t>
            </a:r>
            <a:endParaRPr b="1" sz="4000"/>
          </a:p>
        </p:txBody>
      </p:sp>
      <p:sp>
        <p:nvSpPr>
          <p:cNvPr id="228" name="Google Shape;228;p39"/>
          <p:cNvSpPr txBox="1"/>
          <p:nvPr>
            <p:ph idx="4294967295" type="body"/>
          </p:nvPr>
        </p:nvSpPr>
        <p:spPr>
          <a:xfrm>
            <a:off x="909450" y="1377475"/>
            <a:ext cx="7494900" cy="24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 Slab"/>
              <a:buChar char="❖"/>
            </a:pPr>
            <a:r>
              <a:rPr lang="en" sz="16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Current CVD diagnostics often miss early, subtle patterns in complex signals like ECGs. Manual analysis is </a:t>
            </a:r>
            <a:r>
              <a:rPr lang="en" sz="16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slow</a:t>
            </a:r>
            <a:r>
              <a:rPr lang="en" sz="16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and inconsistent.</a:t>
            </a:r>
            <a:endParaRPr sz="16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 Slab"/>
              <a:buChar char="❖"/>
            </a:pPr>
            <a:r>
              <a:rPr lang="en" sz="16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This project develops an automated ML-based system to detect hidden biomark</a:t>
            </a:r>
            <a:r>
              <a:rPr lang="en" sz="16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ers, enabling earlier and more accurate risk assessment for better patient</a:t>
            </a:r>
            <a:r>
              <a:rPr lang="en" sz="16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care and reduced healthcare burden.</a:t>
            </a:r>
            <a:endParaRPr sz="16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29" name="Google Shape;229;p39"/>
          <p:cNvCxnSpPr/>
          <p:nvPr/>
        </p:nvCxnSpPr>
        <p:spPr>
          <a:xfrm>
            <a:off x="6694986" y="3933625"/>
            <a:ext cx="214500" cy="8568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9"/>
          <p:cNvCxnSpPr/>
          <p:nvPr/>
        </p:nvCxnSpPr>
        <p:spPr>
          <a:xfrm>
            <a:off x="7059842" y="3727574"/>
            <a:ext cx="394200" cy="525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9"/>
          <p:cNvCxnSpPr/>
          <p:nvPr/>
        </p:nvCxnSpPr>
        <p:spPr>
          <a:xfrm>
            <a:off x="7224089" y="3501963"/>
            <a:ext cx="752400" cy="464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idx="4294967295" type="ctrTitle"/>
          </p:nvPr>
        </p:nvSpPr>
        <p:spPr>
          <a:xfrm>
            <a:off x="685800" y="1756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/>
              <a:t>Literature</a:t>
            </a:r>
            <a:r>
              <a:rPr b="1" lang="en" sz="6000"/>
              <a:t> Review</a:t>
            </a:r>
            <a:endParaRPr b="1" sz="6000"/>
          </a:p>
        </p:txBody>
      </p:sp>
      <p:sp>
        <p:nvSpPr>
          <p:cNvPr id="238" name="Google Shape;238;p4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4" name="Google Shape;244;p41"/>
          <p:cNvPicPr preferRelativeResize="0"/>
          <p:nvPr/>
        </p:nvPicPr>
        <p:blipFill rotWithShape="1">
          <a:blip r:embed="rId3">
            <a:alphaModFix/>
          </a:blip>
          <a:srcRect b="2003" l="2070" r="3793" t="3020"/>
          <a:stretch/>
        </p:blipFill>
        <p:spPr>
          <a:xfrm>
            <a:off x="5803375" y="0"/>
            <a:ext cx="286847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1"/>
          <p:cNvSpPr txBox="1"/>
          <p:nvPr/>
        </p:nvSpPr>
        <p:spPr>
          <a:xfrm>
            <a:off x="143275" y="237200"/>
            <a:ext cx="5660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Nonlinear Cuff-less Blood Pressure Estimation of Healthy Subjects Using Pulse Transit Time and Arrival Time</a:t>
            </a:r>
            <a:b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" sz="1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by </a:t>
            </a:r>
            <a:r>
              <a:rPr lang="en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Amir Hossein</a:t>
            </a:r>
            <a:r>
              <a:rPr lang="en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Esmaili, Mohammad Kachuee, and Mahdi Shabany)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46" name="Google Shape;24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9225" y="1877300"/>
            <a:ext cx="3546425" cy="226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1"/>
          <p:cNvSpPr txBox="1"/>
          <p:nvPr/>
        </p:nvSpPr>
        <p:spPr>
          <a:xfrm>
            <a:off x="312325" y="4368200"/>
            <a:ext cx="53052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personalized, nonlinear model using PTT/PAT to reliably estimate SBP and DBP without a cuff. It emphasizes the need for calibration per individual and shows promising results.</a:t>
            </a:r>
            <a:endParaRPr sz="31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3" name="Google Shape;25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750" y="152400"/>
            <a:ext cx="3139469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2"/>
          <p:cNvSpPr txBox="1"/>
          <p:nvPr/>
        </p:nvSpPr>
        <p:spPr>
          <a:xfrm>
            <a:off x="378225" y="281575"/>
            <a:ext cx="48381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A two‑step pre‑processing tool to remove Gaussian and ectopic noise for heart rate variability analysis</a:t>
            </a:r>
            <a:r>
              <a:rPr lang="en" sz="22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endParaRPr sz="22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Roboto Slab"/>
                <a:ea typeface="Roboto Slab"/>
                <a:cs typeface="Roboto Slab"/>
                <a:sym typeface="Roboto Slab"/>
              </a:rPr>
              <a:t>Saleem, S., Khandoker, A.H., Alkhodari, M. </a:t>
            </a:r>
            <a:r>
              <a:rPr i="1" lang="en" sz="1200">
                <a:solidFill>
                  <a:srgbClr val="222222"/>
                </a:solidFill>
                <a:highlight>
                  <a:srgbClr val="FFFFFF"/>
                </a:highlight>
                <a:latin typeface="Roboto Slab"/>
                <a:ea typeface="Roboto Slab"/>
                <a:cs typeface="Roboto Slab"/>
                <a:sym typeface="Roboto Slab"/>
              </a:rPr>
              <a:t>et al.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" sz="12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)</a:t>
            </a:r>
            <a:endParaRPr sz="12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548475" y="1695700"/>
            <a:ext cx="4838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Method: </a:t>
            </a:r>
            <a:endParaRPr b="1" sz="1500" u="sng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CC4125"/>
                </a:solidFill>
                <a:latin typeface="Roboto Slab"/>
                <a:ea typeface="Roboto Slab"/>
                <a:cs typeface="Roboto Slab"/>
                <a:sym typeface="Roboto Slab"/>
              </a:rPr>
              <a:t>CEEMDAN </a:t>
            </a:r>
            <a:r>
              <a:rPr lang="en" sz="1200" u="sng">
                <a:solidFill>
                  <a:srgbClr val="CC4125"/>
                </a:solidFill>
                <a:latin typeface="Roboto Slab"/>
                <a:ea typeface="Roboto Slab"/>
                <a:cs typeface="Roboto Slab"/>
                <a:sym typeface="Roboto Slab"/>
              </a:rPr>
              <a:t>(Complete Ensemble Empirical Mode Decomposition with Adaptive Noise)</a:t>
            </a:r>
            <a:endParaRPr sz="1200" u="sng">
              <a:solidFill>
                <a:srgbClr val="CC4125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Slab"/>
                <a:ea typeface="Roboto Slab"/>
                <a:cs typeface="Roboto Slab"/>
                <a:sym typeface="Roboto Slab"/>
              </a:rPr>
              <a:t>The ECG is broken into several layers (IMFs) from high frequency to low frequency, helping isolate noise from useful heart signal components.</a:t>
            </a:r>
            <a:br>
              <a:rPr lang="en" sz="1200">
                <a:latin typeface="Roboto Slab"/>
                <a:ea typeface="Roboto Slab"/>
                <a:cs typeface="Roboto Slab"/>
                <a:sym typeface="Roboto Slab"/>
              </a:rPr>
            </a:br>
            <a:br>
              <a:rPr lang="en" sz="1200" u="sng"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lang="en" sz="1200" u="sng">
                <a:solidFill>
                  <a:srgbClr val="CC4125"/>
                </a:solidFill>
                <a:latin typeface="Roboto Slab"/>
                <a:ea typeface="Roboto Slab"/>
                <a:cs typeface="Roboto Slab"/>
                <a:sym typeface="Roboto Slab"/>
              </a:rPr>
              <a:t>SDROM‑ADF</a:t>
            </a:r>
            <a:br>
              <a:rPr b="1" lang="en" sz="1200" u="sng">
                <a:solidFill>
                  <a:srgbClr val="CC4125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lang="en" sz="1200">
                <a:latin typeface="Roboto Slab"/>
                <a:ea typeface="Roboto Slab"/>
                <a:cs typeface="Roboto Slab"/>
                <a:sym typeface="Roboto Slab"/>
              </a:rPr>
              <a:t>SDROM:</a:t>
            </a:r>
            <a:r>
              <a:rPr lang="en" sz="1100"/>
              <a:t> </a:t>
            </a: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a rank-order statistical filter</a:t>
            </a:r>
            <a:br>
              <a:rPr lang="en" sz="1200"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lang="en" sz="1200">
                <a:latin typeface="Roboto Slab"/>
                <a:ea typeface="Roboto Slab"/>
                <a:cs typeface="Roboto Slab"/>
                <a:sym typeface="Roboto Slab"/>
              </a:rPr>
              <a:t>ADF:</a:t>
            </a:r>
            <a:r>
              <a:rPr lang="en" sz="1100"/>
              <a:t> </a:t>
            </a: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an adaptive filter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Effectively removes abnormal heartbeat spikes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CC4125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730425" y="4508650"/>
            <a:ext cx="3464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htt</a:t>
            </a:r>
            <a:r>
              <a:rPr lang="en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</a:t>
            </a:r>
            <a:r>
              <a:rPr lang="en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s://doi.org/10.1038/s41598-022-21776-2</a:t>
            </a:r>
            <a:endParaRPr sz="7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2" name="Google Shape;26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34" y="1472600"/>
            <a:ext cx="4512766" cy="29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3"/>
          <p:cNvSpPr txBox="1"/>
          <p:nvPr/>
        </p:nvSpPr>
        <p:spPr>
          <a:xfrm>
            <a:off x="237200" y="204350"/>
            <a:ext cx="84573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Machine learning analysis of integrated ABP and PPG signals towards early detection of coronary artery disease</a:t>
            </a:r>
            <a:br>
              <a:rPr lang="en" sz="2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By</a:t>
            </a:r>
            <a:r>
              <a:rPr lang="en" sz="2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  <a:latin typeface="Roboto Slab"/>
                <a:ea typeface="Roboto Slab"/>
                <a:cs typeface="Roboto Slab"/>
                <a:sym typeface="Roboto Slab"/>
              </a:rPr>
              <a:t>Minhas, A., Pal, S.C. &amp; Jain, K.</a:t>
            </a:r>
            <a:endParaRPr sz="24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64" name="Google Shape;264;p43"/>
          <p:cNvSpPr txBox="1"/>
          <p:nvPr/>
        </p:nvSpPr>
        <p:spPr>
          <a:xfrm>
            <a:off x="5286775" y="1472600"/>
            <a:ext cx="3666300" cy="29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Pre-processing: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Removes noise/artifacts from raw signals 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Integrated Fusion Module (IFM):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Extracts 19 features from each signal 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and then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fuses them into a single comprehensive feature set.</a:t>
            </a:r>
            <a:br>
              <a:rPr lang="en" sz="1300">
                <a:latin typeface="Roboto Slab"/>
                <a:ea typeface="Roboto Slab"/>
                <a:cs typeface="Roboto Slab"/>
                <a:sym typeface="Roboto Slab"/>
              </a:rPr>
            </a:b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Classification Module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: Uses fused features to train/test classifiers (KNN, SVM, neural networks) to distinguish CAD vs. non-CAD subjects, evaluating accuracy, sensitivity, and predictive value.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65" name="Google Shape;265;p43"/>
          <p:cNvSpPr txBox="1"/>
          <p:nvPr/>
        </p:nvSpPr>
        <p:spPr>
          <a:xfrm>
            <a:off x="5185575" y="4776400"/>
            <a:ext cx="35088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Calibri"/>
                <a:ea typeface="Calibri"/>
                <a:cs typeface="Calibri"/>
                <a:sym typeface="Calibri"/>
              </a:rPr>
              <a:t>https://doi.org/10.1038/s41598-025-93390-</a:t>
            </a:r>
            <a:r>
              <a:rPr lang="en" sz="135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‌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66" name="Google Shape;266;p43"/>
          <p:cNvPicPr preferRelativeResize="0"/>
          <p:nvPr/>
        </p:nvPicPr>
        <p:blipFill rotWithShape="1">
          <a:blip r:embed="rId4">
            <a:alphaModFix/>
          </a:blip>
          <a:srcRect b="21476" l="4232" r="0" t="0"/>
          <a:stretch/>
        </p:blipFill>
        <p:spPr>
          <a:xfrm>
            <a:off x="542525" y="4575025"/>
            <a:ext cx="4192300" cy="5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2" name="Google Shape;27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674" y="605837"/>
            <a:ext cx="6548375" cy="39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8" name="Google Shape;27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27350"/>
            <a:ext cx="9144001" cy="303209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5"/>
          <p:cNvSpPr txBox="1"/>
          <p:nvPr/>
        </p:nvSpPr>
        <p:spPr>
          <a:xfrm>
            <a:off x="547250" y="370625"/>
            <a:ext cx="5801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rPr>
              <a:t>Summarize of </a:t>
            </a:r>
            <a:r>
              <a:rPr lang="en" sz="27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rPr>
              <a:t>Literature</a:t>
            </a:r>
            <a:r>
              <a:rPr lang="en" sz="27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rPr>
              <a:t> Review</a:t>
            </a:r>
            <a:endParaRPr sz="2700">
              <a:solidFill>
                <a:srgbClr val="0091E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ctrTitle"/>
          </p:nvPr>
        </p:nvSpPr>
        <p:spPr>
          <a:xfrm>
            <a:off x="495550" y="1580750"/>
            <a:ext cx="8457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Signal Preprocessing</a:t>
            </a:r>
            <a:endParaRPr sz="6000"/>
          </a:p>
        </p:txBody>
      </p:sp>
      <p:sp>
        <p:nvSpPr>
          <p:cNvPr id="285" name="Google Shape;285;p46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ctrTitle"/>
          </p:nvPr>
        </p:nvSpPr>
        <p:spPr>
          <a:xfrm>
            <a:off x="0" y="156994"/>
            <a:ext cx="6304500" cy="7958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800"/>
              <a:t>PPG PREPROCESSING</a:t>
            </a:r>
            <a:r>
              <a:rPr lang="en"/>
              <a:t>  </a:t>
            </a:r>
            <a:endParaRPr/>
          </a:p>
        </p:txBody>
      </p:sp>
      <p:sp>
        <p:nvSpPr>
          <p:cNvPr id="291" name="Google Shape;291;p47"/>
          <p:cNvSpPr txBox="1"/>
          <p:nvPr>
            <p:ph idx="1" type="subTitle"/>
          </p:nvPr>
        </p:nvSpPr>
        <p:spPr>
          <a:xfrm>
            <a:off x="503400" y="1009688"/>
            <a:ext cx="7437375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349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Slab"/>
              <a:buChar char="•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used a median filter to eliminate electric glitch noise which caused signal have large thin spikes.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234950" lvl="0" marL="2540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Slab"/>
              <a:buChar char="•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Use savisky golay filter after signal is filtered by median filter to </a:t>
            </a: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smooth</a:t>
            </a: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 the signal.</a:t>
            </a:r>
            <a:endParaRPr sz="1700"/>
          </a:p>
        </p:txBody>
      </p:sp>
      <p:pic>
        <p:nvPicPr>
          <p:cNvPr descr="Screenshot 2025-06-11 084851" id="292" name="Google Shape;29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300" y="2671763"/>
            <a:ext cx="2427431" cy="1375555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3" name="Google Shape;293;p47"/>
          <p:cNvSpPr txBox="1"/>
          <p:nvPr/>
        </p:nvSpPr>
        <p:spPr>
          <a:xfrm>
            <a:off x="503396" y="4289591"/>
            <a:ext cx="2496600" cy="3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Raw ppg signal</a:t>
            </a:r>
            <a:endParaRPr sz="15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descr="Screenshot 2025-06-11 084947" id="294" name="Google Shape;29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4206" y="2692725"/>
            <a:ext cx="2496506" cy="13404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5" name="Google Shape;295;p47"/>
          <p:cNvSpPr txBox="1"/>
          <p:nvPr/>
        </p:nvSpPr>
        <p:spPr>
          <a:xfrm>
            <a:off x="3290973" y="4289588"/>
            <a:ext cx="2202975" cy="3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filtered ppg signal</a:t>
            </a:r>
            <a:endParaRPr sz="15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descr="Screenshot 2025-06-11 085710" id="296" name="Google Shape;29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2188" y="2077631"/>
            <a:ext cx="2717944" cy="12643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creenshot 2025-06-11 085734" id="297" name="Google Shape;297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2180" y="3364114"/>
            <a:ext cx="2717959" cy="10358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8" name="Google Shape;298;p47"/>
          <p:cNvSpPr txBox="1"/>
          <p:nvPr/>
        </p:nvSpPr>
        <p:spPr>
          <a:xfrm>
            <a:off x="5776436" y="4557236"/>
            <a:ext cx="3246975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zoomed out of a region of a raw and filtered signal </a:t>
            </a:r>
            <a:endParaRPr sz="15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3800"/>
              <a:t>ECG PREPROCESSING </a:t>
            </a:r>
            <a:endParaRPr sz="3800"/>
          </a:p>
        </p:txBody>
      </p:sp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628650" y="1195388"/>
            <a:ext cx="7886700" cy="34375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◎"/>
            </a:pPr>
            <a: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Applied a median filter to the ECG signal to eliminate electrical glitch noise using a small kernel, preserving important peaks such as Q and S.</a:t>
            </a:r>
            <a:b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endParaRPr sz="14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17145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◎"/>
            </a:pPr>
            <a: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Used the </a:t>
            </a:r>
            <a:r>
              <a:rPr b="1"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BioSPPy library </a:t>
            </a:r>
            <a: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 Python to detect R-peaks in the ECG signal.</a:t>
            </a:r>
            <a:b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endParaRPr sz="14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17145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◎"/>
            </a:pPr>
            <a: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Marked all downward peaks on the ECG waveform.</a:t>
            </a:r>
            <a:b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endParaRPr sz="14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17145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◎"/>
            </a:pPr>
            <a: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Identified the nearest downward peaks around each R-peak as Q and S points.</a:t>
            </a:r>
            <a:b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endParaRPr sz="14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17145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◎"/>
            </a:pPr>
            <a: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Applied a low-pass filter to the ECG signal, excluding the regions around the R-peaks.</a:t>
            </a:r>
            <a:b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endParaRPr sz="14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17145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◎"/>
            </a:pPr>
            <a:r>
              <a:rPr lang="en" sz="1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Smoothed the regioned signals using the Savitzky-Golay filter to enhance ECG clarity.</a:t>
            </a:r>
            <a:endParaRPr sz="14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225263" y="170156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2800"/>
              <a:t>ECG PREPROCESSING</a:t>
            </a:r>
            <a:endParaRPr sz="2800"/>
          </a:p>
        </p:txBody>
      </p:sp>
      <p:pic>
        <p:nvPicPr>
          <p:cNvPr descr="Screenshot 2025-06-11 094007" id="310" name="Google Shape;31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266" y="1441132"/>
            <a:ext cx="1721168" cy="83105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9"/>
          <p:cNvSpPr/>
          <p:nvPr/>
        </p:nvSpPr>
        <p:spPr>
          <a:xfrm>
            <a:off x="2103596" y="1689735"/>
            <a:ext cx="327184" cy="3333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SUS\Desktop\Screenshot 2025-06-11 095611.pngScreenshot 2025-06-11 095611" id="312" name="Google Shape;312;p49"/>
          <p:cNvPicPr preferRelativeResize="0"/>
          <p:nvPr/>
        </p:nvPicPr>
        <p:blipFill rotWithShape="1">
          <a:blip r:embed="rId4">
            <a:alphaModFix/>
          </a:blip>
          <a:srcRect b="5287" l="0" r="0" t="5288"/>
          <a:stretch/>
        </p:blipFill>
        <p:spPr>
          <a:xfrm>
            <a:off x="2516505" y="1441132"/>
            <a:ext cx="1702118" cy="91630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9"/>
          <p:cNvSpPr/>
          <p:nvPr/>
        </p:nvSpPr>
        <p:spPr>
          <a:xfrm>
            <a:off x="4304348" y="1689735"/>
            <a:ext cx="327184" cy="3333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SUS\Desktop\Screenshot 2025-06-11 095656.pngScreenshot 2025-06-11 095656" id="314" name="Google Shape;314;p49"/>
          <p:cNvPicPr preferRelativeResize="0"/>
          <p:nvPr/>
        </p:nvPicPr>
        <p:blipFill rotWithShape="1">
          <a:blip r:embed="rId5">
            <a:alphaModFix/>
          </a:blip>
          <a:srcRect b="12828" l="0" r="0" t="12829"/>
          <a:stretch/>
        </p:blipFill>
        <p:spPr>
          <a:xfrm>
            <a:off x="4717256" y="1441133"/>
            <a:ext cx="1702118" cy="86296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9"/>
          <p:cNvSpPr/>
          <p:nvPr/>
        </p:nvSpPr>
        <p:spPr>
          <a:xfrm>
            <a:off x="6505099" y="1689735"/>
            <a:ext cx="327184" cy="3333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 2025-06-11 095742" id="316" name="Google Shape;316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8008" y="1268254"/>
            <a:ext cx="1624013" cy="1021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9"/>
          <p:cNvSpPr/>
          <p:nvPr/>
        </p:nvSpPr>
        <p:spPr>
          <a:xfrm>
            <a:off x="7601426" y="2809399"/>
            <a:ext cx="276701" cy="37957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 2025-06-11 100345" id="318" name="Google Shape;318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83254" y="3369945"/>
            <a:ext cx="1621631" cy="92916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9"/>
          <p:cNvSpPr txBox="1"/>
          <p:nvPr/>
        </p:nvSpPr>
        <p:spPr>
          <a:xfrm>
            <a:off x="230029" y="2448878"/>
            <a:ext cx="1666800" cy="288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Raw ecg </a:t>
            </a:r>
            <a:endParaRPr sz="14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0" name="Google Shape;320;p49"/>
          <p:cNvSpPr txBox="1"/>
          <p:nvPr/>
        </p:nvSpPr>
        <p:spPr>
          <a:xfrm>
            <a:off x="2516512" y="2459897"/>
            <a:ext cx="1842525" cy="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median filtered ecg</a:t>
            </a:r>
            <a:endParaRPr sz="14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1" name="Google Shape;321;p49"/>
          <p:cNvSpPr txBox="1"/>
          <p:nvPr/>
        </p:nvSpPr>
        <p:spPr>
          <a:xfrm>
            <a:off x="4529606" y="2448319"/>
            <a:ext cx="2077425" cy="3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R peaks point out ecg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9"/>
          <p:cNvSpPr txBox="1"/>
          <p:nvPr/>
        </p:nvSpPr>
        <p:spPr>
          <a:xfrm>
            <a:off x="7111369" y="2393156"/>
            <a:ext cx="1621575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Q,R,S point out ecg</a:t>
            </a:r>
            <a:r>
              <a:rPr lang="en" sz="1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endParaRPr sz="14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3" name="Google Shape;323;p49"/>
          <p:cNvSpPr txBox="1"/>
          <p:nvPr/>
        </p:nvSpPr>
        <p:spPr>
          <a:xfrm>
            <a:off x="6692745" y="4480091"/>
            <a:ext cx="2330775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low </a:t>
            </a:r>
            <a:r>
              <a:rPr lang="en" sz="1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passed</a:t>
            </a:r>
            <a:r>
              <a:rPr lang="en" sz="1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+savisky goley filtered final ecg</a:t>
            </a:r>
            <a:endParaRPr sz="15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descr="Screenshot 2025-06-11 102048" id="324" name="Google Shape;324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0029" y="3044190"/>
            <a:ext cx="2929414" cy="1450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5-06-11 102205" id="325" name="Google Shape;325;p4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34702" y="3044190"/>
            <a:ext cx="2994660" cy="138398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9"/>
          <p:cNvSpPr txBox="1"/>
          <p:nvPr/>
        </p:nvSpPr>
        <p:spPr>
          <a:xfrm>
            <a:off x="241459" y="4595509"/>
            <a:ext cx="2678400" cy="3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zoomed out ecg raw</a:t>
            </a:r>
            <a:endParaRPr sz="15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7" name="Google Shape;327;p49"/>
          <p:cNvSpPr txBox="1"/>
          <p:nvPr/>
        </p:nvSpPr>
        <p:spPr>
          <a:xfrm>
            <a:off x="3605468" y="4595509"/>
            <a:ext cx="2401650" cy="3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zoomed out ecg filtered</a:t>
            </a:r>
            <a:endParaRPr sz="15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 txBox="1"/>
          <p:nvPr>
            <p:ph type="title"/>
          </p:nvPr>
        </p:nvSpPr>
        <p:spPr>
          <a:xfrm>
            <a:off x="399254" y="273844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2400"/>
              <a:t>Overview of the Filterers used in </a:t>
            </a:r>
            <a:r>
              <a:rPr lang="en" sz="2400"/>
              <a:t>Preprocessing</a:t>
            </a:r>
            <a:r>
              <a:rPr lang="en" sz="2400"/>
              <a:t> </a:t>
            </a:r>
            <a:endParaRPr sz="2400"/>
          </a:p>
        </p:txBody>
      </p:sp>
      <p:sp>
        <p:nvSpPr>
          <p:cNvPr id="333" name="Google Shape;333;p50"/>
          <p:cNvSpPr txBox="1"/>
          <p:nvPr>
            <p:ph idx="2" type="body"/>
          </p:nvPr>
        </p:nvSpPr>
        <p:spPr>
          <a:xfrm>
            <a:off x="594616" y="1413209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/>
          </a:bodyPr>
          <a:lstStyle/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596"/>
              <a:buFont typeface="Arial"/>
              <a:buNone/>
            </a:pPr>
            <a:r>
              <a:rPr b="1" lang="en" sz="5522">
                <a:latin typeface="Roboto Slab"/>
                <a:ea typeface="Roboto Slab"/>
                <a:cs typeface="Roboto Slab"/>
                <a:sym typeface="Roboto Slab"/>
              </a:rPr>
              <a:t>MEDIAN FILTER</a:t>
            </a:r>
            <a:endParaRPr b="1" sz="5522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6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16">
                <a:latin typeface="Roboto Slab"/>
                <a:ea typeface="Roboto Slab"/>
                <a:cs typeface="Roboto Slab"/>
                <a:sym typeface="Roboto Slab"/>
              </a:rPr>
              <a:t>Excellent for remove impulse noise.</a:t>
            </a:r>
            <a:endParaRPr sz="4216">
              <a:latin typeface="Roboto Slab"/>
              <a:ea typeface="Roboto Slab"/>
              <a:cs typeface="Roboto Slab"/>
              <a:sym typeface="Roboto Slab"/>
            </a:endParaRPr>
          </a:p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5577"/>
              <a:buNone/>
            </a:pPr>
            <a:r>
              <a:t/>
            </a:r>
            <a:endParaRPr sz="4216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4216">
                <a:latin typeface="Roboto Slab"/>
                <a:ea typeface="Roboto Slab"/>
                <a:cs typeface="Roboto Slab"/>
                <a:sym typeface="Roboto Slab"/>
              </a:rPr>
              <a:t>preserve the important edges.</a:t>
            </a:r>
            <a:endParaRPr sz="4216">
              <a:latin typeface="Roboto Slab"/>
              <a:ea typeface="Roboto Slab"/>
              <a:cs typeface="Roboto Slab"/>
              <a:sym typeface="Roboto Slab"/>
            </a:endParaRPr>
          </a:p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5577"/>
              <a:buNone/>
            </a:pPr>
            <a:r>
              <a:t/>
            </a:r>
            <a:endParaRPr sz="4216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4216">
                <a:latin typeface="Roboto Slab"/>
                <a:ea typeface="Roboto Slab"/>
                <a:cs typeface="Roboto Slab"/>
                <a:sym typeface="Roboto Slab"/>
              </a:rPr>
              <a:t>not suitable for smoothing the signal</a:t>
            </a:r>
            <a:r>
              <a:rPr lang="en" sz="2000">
                <a:latin typeface="Roboto Slab Medium"/>
                <a:ea typeface="Roboto Slab Medium"/>
                <a:cs typeface="Roboto Slab Medium"/>
                <a:sym typeface="Roboto Slab Medium"/>
              </a:rPr>
              <a:t>.</a:t>
            </a:r>
            <a:endParaRPr sz="20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t/>
            </a:r>
            <a:endParaRPr sz="2100"/>
          </a:p>
        </p:txBody>
      </p:sp>
      <p:sp>
        <p:nvSpPr>
          <p:cNvPr id="334" name="Google Shape;334;p50"/>
          <p:cNvSpPr txBox="1"/>
          <p:nvPr>
            <p:ph idx="4" type="body"/>
          </p:nvPr>
        </p:nvSpPr>
        <p:spPr>
          <a:xfrm>
            <a:off x="4746563" y="1162644"/>
            <a:ext cx="38877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1778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1778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16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6">
                <a:latin typeface="Roboto Slab"/>
                <a:ea typeface="Roboto Slab"/>
                <a:cs typeface="Roboto Slab"/>
                <a:sym typeface="Roboto Slab"/>
              </a:rPr>
              <a:t>SAVITZKY GOLAY FILTER</a:t>
            </a:r>
            <a:endParaRPr b="1" sz="1916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Slab"/>
                <a:ea typeface="Roboto Slab"/>
                <a:cs typeface="Roboto Slab"/>
                <a:sym typeface="Roboto Slab"/>
              </a:rPr>
              <a:t>Great for smoothing with less distortion.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12500"/>
              <a:buNone/>
            </a:pPr>
            <a:r>
              <a:t/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Roboto Slab"/>
                <a:ea typeface="Roboto Slab"/>
                <a:cs typeface="Roboto Slab"/>
                <a:sym typeface="Roboto Slab"/>
              </a:rPr>
              <a:t>Preserves signal shape and features.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12500"/>
              <a:buNone/>
            </a:pPr>
            <a:r>
              <a:t/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Roboto Slab"/>
                <a:ea typeface="Roboto Slab"/>
                <a:cs typeface="Roboto Slab"/>
                <a:sym typeface="Roboto Slab"/>
              </a:rPr>
              <a:t>can distort the important spikes of the signal.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1"/>
          <p:cNvSpPr txBox="1"/>
          <p:nvPr/>
        </p:nvSpPr>
        <p:spPr>
          <a:xfrm>
            <a:off x="268050" y="1226000"/>
            <a:ext cx="86079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Current Implementation Status</a:t>
            </a:r>
            <a:endParaRPr sz="6000">
              <a:solidFill>
                <a:schemeClr val="accent1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2"/>
          <p:cNvSpPr txBox="1"/>
          <p:nvPr>
            <p:ph idx="1" type="body"/>
          </p:nvPr>
        </p:nvSpPr>
        <p:spPr>
          <a:xfrm>
            <a:off x="216450" y="854900"/>
            <a:ext cx="2516100" cy="16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Datasets used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 Slab Medium"/>
                <a:ea typeface="Roboto Slab Medium"/>
                <a:cs typeface="Roboto Slab Medium"/>
                <a:sym typeface="Roboto Slab Medium"/>
              </a:rPr>
              <a:t>MIT-BIH Arrhythmia database on physionet</a:t>
            </a:r>
            <a:endParaRPr sz="13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 Slab Medium"/>
                <a:ea typeface="Roboto Slab Medium"/>
                <a:cs typeface="Roboto Slab Medium"/>
                <a:sym typeface="Roboto Slab Medium"/>
              </a:rPr>
              <a:t>PTB-XL a large publicly available electrocardiography dataset</a:t>
            </a:r>
            <a:endParaRPr sz="1100">
              <a:latin typeface="Roboto Slab Medium"/>
              <a:ea typeface="Roboto Slab Medium"/>
              <a:cs typeface="Roboto Slab Medium"/>
              <a:sym typeface="Roboto Slab Medium"/>
            </a:endParaRPr>
          </a:p>
        </p:txBody>
      </p:sp>
      <p:sp>
        <p:nvSpPr>
          <p:cNvPr id="345" name="Google Shape;345;p52"/>
          <p:cNvSpPr txBox="1"/>
          <p:nvPr>
            <p:ph idx="2" type="body"/>
          </p:nvPr>
        </p:nvSpPr>
        <p:spPr>
          <a:xfrm>
            <a:off x="3002825" y="755775"/>
            <a:ext cx="2701800" cy="21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Approach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latin typeface="Roboto Slab Medium"/>
                <a:ea typeface="Roboto Slab Medium"/>
                <a:cs typeface="Roboto Slab Medium"/>
                <a:sym typeface="Roboto Slab Medium"/>
              </a:rPr>
              <a:t>Attention mechanism to focus on important time intervals of signal.</a:t>
            </a:r>
            <a:endParaRPr sz="13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latin typeface="Roboto Slab Medium"/>
                <a:ea typeface="Roboto Slab Medium"/>
                <a:cs typeface="Roboto Slab Medium"/>
                <a:sym typeface="Roboto Slab Medium"/>
              </a:rPr>
              <a:t>Use of Convolutional Neural Networks (CNNs) for feature extraction</a:t>
            </a:r>
            <a:r>
              <a:rPr lang="en" sz="1100">
                <a:latin typeface="Roboto Slab Medium"/>
                <a:ea typeface="Roboto Slab Medium"/>
                <a:cs typeface="Roboto Slab Medium"/>
                <a:sym typeface="Roboto Slab Medium"/>
              </a:rPr>
              <a:t>.</a:t>
            </a:r>
            <a:endParaRPr sz="1100">
              <a:latin typeface="Roboto Slab Medium"/>
              <a:ea typeface="Roboto Slab Medium"/>
              <a:cs typeface="Roboto Slab Medium"/>
              <a:sym typeface="Roboto Slab Medium"/>
            </a:endParaRPr>
          </a:p>
        </p:txBody>
      </p:sp>
      <p:sp>
        <p:nvSpPr>
          <p:cNvPr id="346" name="Google Shape;346;p52"/>
          <p:cNvSpPr txBox="1"/>
          <p:nvPr>
            <p:ph idx="3" type="body"/>
          </p:nvPr>
        </p:nvSpPr>
        <p:spPr>
          <a:xfrm>
            <a:off x="6104075" y="886575"/>
            <a:ext cx="2959500" cy="383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Training Parameters</a:t>
            </a:r>
            <a:br>
              <a:rPr b="1" lang="en"/>
            </a:br>
            <a:r>
              <a:rPr lang="en" sz="1300" u="sng">
                <a:latin typeface="Roboto Slab Medium"/>
                <a:ea typeface="Roboto Slab Medium"/>
                <a:cs typeface="Roboto Slab Medium"/>
                <a:sym typeface="Roboto Slab Medium"/>
              </a:rPr>
              <a:t>Optimizer: </a:t>
            </a:r>
            <a:r>
              <a:rPr lang="en" sz="1300">
                <a:latin typeface="Roboto Slab Medium"/>
                <a:ea typeface="Roboto Slab Medium"/>
                <a:cs typeface="Roboto Slab Medium"/>
                <a:sym typeface="Roboto Slab Medium"/>
              </a:rPr>
              <a:t>Adam optimizer for adaptive learning.</a:t>
            </a:r>
            <a:endParaRPr sz="13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 u="sng">
                <a:latin typeface="Roboto Slab Medium"/>
                <a:ea typeface="Roboto Slab Medium"/>
                <a:cs typeface="Roboto Slab Medium"/>
                <a:sym typeface="Roboto Slab Medium"/>
              </a:rPr>
              <a:t>Loss Function</a:t>
            </a:r>
            <a:r>
              <a:rPr lang="en" sz="1300">
                <a:latin typeface="Roboto Slab Medium"/>
                <a:ea typeface="Roboto Slab Medium"/>
                <a:cs typeface="Roboto Slab Medium"/>
                <a:sym typeface="Roboto Slab Medium"/>
              </a:rPr>
              <a:t>: Binary Crossentropy (for multi-label classification)</a:t>
            </a:r>
            <a:endParaRPr sz="13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 u="sng">
                <a:latin typeface="Roboto Slab Medium"/>
                <a:ea typeface="Roboto Slab Medium"/>
                <a:cs typeface="Roboto Slab Medium"/>
                <a:sym typeface="Roboto Slab Medium"/>
              </a:rPr>
              <a:t>Metrics:</a:t>
            </a:r>
            <a:r>
              <a:rPr lang="en" sz="1300">
                <a:latin typeface="Roboto Slab Medium"/>
                <a:ea typeface="Roboto Slab Medium"/>
                <a:cs typeface="Roboto Slab Medium"/>
                <a:sym typeface="Roboto Slab Medium"/>
              </a:rPr>
              <a:t> Accuracy, AUC (Area Under the Curve).</a:t>
            </a:r>
            <a:endParaRPr sz="13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br>
              <a:rPr lang="en" sz="1300">
                <a:latin typeface="Roboto Slab Medium"/>
                <a:ea typeface="Roboto Slab Medium"/>
                <a:cs typeface="Roboto Slab Medium"/>
                <a:sym typeface="Roboto Slab Medium"/>
              </a:rPr>
            </a:br>
            <a:r>
              <a:rPr lang="en" sz="1300" u="sng">
                <a:latin typeface="Roboto Slab Medium"/>
                <a:ea typeface="Roboto Slab Medium"/>
                <a:cs typeface="Roboto Slab Medium"/>
                <a:sym typeface="Roboto Slab Medium"/>
              </a:rPr>
              <a:t>Epochs: </a:t>
            </a:r>
            <a:r>
              <a:rPr lang="en" sz="1300">
                <a:latin typeface="Roboto Slab Medium"/>
                <a:ea typeface="Roboto Slab Medium"/>
                <a:cs typeface="Roboto Slab Medium"/>
                <a:sym typeface="Roboto Slab Medium"/>
              </a:rPr>
              <a:t>Trained for up to 50 epochs to optimize performance.</a:t>
            </a:r>
            <a:endParaRPr sz="13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7" name="Google Shape;347;p52"/>
          <p:cNvSpPr txBox="1"/>
          <p:nvPr>
            <p:ph idx="1" type="body"/>
          </p:nvPr>
        </p:nvSpPr>
        <p:spPr>
          <a:xfrm>
            <a:off x="328175" y="3102725"/>
            <a:ext cx="3009300" cy="14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Callbacks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Roboto Slab Medium"/>
                <a:ea typeface="Roboto Slab Medium"/>
                <a:cs typeface="Roboto Slab Medium"/>
                <a:sym typeface="Roboto Slab Medium"/>
              </a:rPr>
              <a:t>EarlyStopping:</a:t>
            </a:r>
            <a:endParaRPr sz="12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Roboto Slab Medium"/>
                <a:ea typeface="Roboto Slab Medium"/>
                <a:cs typeface="Roboto Slab Medium"/>
                <a:sym typeface="Roboto Slab Medium"/>
              </a:rPr>
              <a:t>ModelCheckpoint (Saves the model with the best validation loss)</a:t>
            </a:r>
            <a:endParaRPr sz="14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348" name="Google Shape;348;p52"/>
          <p:cNvGrpSpPr/>
          <p:nvPr/>
        </p:nvGrpSpPr>
        <p:grpSpPr>
          <a:xfrm>
            <a:off x="1631660" y="3351497"/>
            <a:ext cx="431188" cy="521318"/>
            <a:chOff x="6718575" y="2318625"/>
            <a:chExt cx="256950" cy="407375"/>
          </a:xfrm>
        </p:grpSpPr>
        <p:sp>
          <p:nvSpPr>
            <p:cNvPr id="349" name="Google Shape;349;p52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50" name="Google Shape;350;p52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51" name="Google Shape;351;p52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52" name="Google Shape;352;p52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53" name="Google Shape;353;p52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54" name="Google Shape;354;p52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55" name="Google Shape;355;p52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56" name="Google Shape;356;p52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</p:grpSp>
      <p:grpSp>
        <p:nvGrpSpPr>
          <p:cNvPr id="357" name="Google Shape;357;p52"/>
          <p:cNvGrpSpPr/>
          <p:nvPr/>
        </p:nvGrpSpPr>
        <p:grpSpPr>
          <a:xfrm>
            <a:off x="3443095" y="333661"/>
            <a:ext cx="595780" cy="521317"/>
            <a:chOff x="5961125" y="1623900"/>
            <a:chExt cx="427450" cy="448175"/>
          </a:xfrm>
        </p:grpSpPr>
        <p:sp>
          <p:nvSpPr>
            <p:cNvPr id="358" name="Google Shape;358;p52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59" name="Google Shape;359;p52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60" name="Google Shape;360;p52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61" name="Google Shape;361;p52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62" name="Google Shape;362;p52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63" name="Google Shape;363;p52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64" name="Google Shape;364;p52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</p:grpSp>
      <p:grpSp>
        <p:nvGrpSpPr>
          <p:cNvPr id="365" name="Google Shape;365;p52"/>
          <p:cNvGrpSpPr/>
          <p:nvPr/>
        </p:nvGrpSpPr>
        <p:grpSpPr>
          <a:xfrm>
            <a:off x="6801892" y="333590"/>
            <a:ext cx="548696" cy="521311"/>
            <a:chOff x="5972700" y="2330200"/>
            <a:chExt cx="411625" cy="387275"/>
          </a:xfrm>
        </p:grpSpPr>
        <p:sp>
          <p:nvSpPr>
            <p:cNvPr id="366" name="Google Shape;366;p52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  <p:sp>
          <p:nvSpPr>
            <p:cNvPr id="367" name="Google Shape;367;p52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91EA"/>
                </a:solidFill>
              </a:endParaRPr>
            </a:p>
          </p:txBody>
        </p:sp>
      </p:grpSp>
      <p:sp>
        <p:nvSpPr>
          <p:cNvPr id="368" name="Google Shape;368;p5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9" name="Google Shape;369;p52"/>
          <p:cNvGrpSpPr/>
          <p:nvPr/>
        </p:nvGrpSpPr>
        <p:grpSpPr>
          <a:xfrm>
            <a:off x="582699" y="286531"/>
            <a:ext cx="488275" cy="568465"/>
            <a:chOff x="596350" y="929175"/>
            <a:chExt cx="407950" cy="497475"/>
          </a:xfrm>
        </p:grpSpPr>
        <p:sp>
          <p:nvSpPr>
            <p:cNvPr id="370" name="Google Shape;370;p52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solidFill>
              <a:schemeClr val="accent1"/>
            </a:solidFill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1" name="Google Shape;371;p52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solidFill>
              <a:schemeClr val="accent1"/>
            </a:solidFill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2" name="Google Shape;372;p52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3" name="Google Shape;373;p52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solidFill>
              <a:schemeClr val="accent1"/>
            </a:solidFill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4" name="Google Shape;374;p52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5" name="Google Shape;375;p52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solidFill>
              <a:schemeClr val="accent1"/>
            </a:solidFill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6" name="Google Shape;376;p52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solidFill>
              <a:schemeClr val="accent1"/>
            </a:solidFill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82" name="Google Shape;382;p53"/>
          <p:cNvGraphicFramePr/>
          <p:nvPr/>
        </p:nvGraphicFramePr>
        <p:xfrm>
          <a:off x="600225" y="97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{F4704102-5F82-4F41-A2BE-21A74A32E111}</a:tableStyleId>
              </a:tblPr>
              <a:tblGrid>
                <a:gridCol w="2763550"/>
                <a:gridCol w="5180000"/>
              </a:tblGrid>
              <a:tr h="29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Layer</a:t>
                      </a:r>
                      <a:endParaRPr sz="1600">
                        <a:solidFill>
                          <a:schemeClr val="accent1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Objective</a:t>
                      </a:r>
                      <a:endParaRPr sz="1600">
                        <a:solidFill>
                          <a:schemeClr val="accent1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Convolutional layer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Mimic how cardiologists detect local waveform features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Max-Pooling Layer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Help in handling noisy real-world signals by focusing on dominant features.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</a:tr>
              <a:tr h="60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Bidirectional LSTM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processes sequential data in both forward and backward directions</a:t>
                      </a:r>
                      <a:endParaRPr sz="1500">
                        <a:solidFill>
                          <a:schemeClr val="dk1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</a:tr>
              <a:tr h="29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Attention Layer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Highlights specific time intervals that may correspond to critical cardiac events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</a:tr>
              <a:tr h="29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Dense Layer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Allow multi-condition mapping from complex signal features.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</a:tr>
              <a:tr h="29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Output Layer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Sigmoid activation for multi-label classification</a:t>
                      </a:r>
                      <a:endParaRPr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3" name="Google Shape;383;p53"/>
          <p:cNvSpPr txBox="1"/>
          <p:nvPr/>
        </p:nvSpPr>
        <p:spPr>
          <a:xfrm>
            <a:off x="140800" y="364050"/>
            <a:ext cx="8404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 </a:t>
            </a:r>
            <a:r>
              <a:rPr b="1" lang="en" sz="1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    </a:t>
            </a:r>
            <a:r>
              <a:rPr b="1" lang="en" sz="17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Model Architecture</a:t>
            </a:r>
            <a:r>
              <a:rPr b="1" lang="en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: </a:t>
            </a:r>
            <a:r>
              <a:rPr lang="en" sz="1600" u="sng">
                <a:solidFill>
                  <a:schemeClr val="dk1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Attention-Based Deep Learning Model</a:t>
            </a:r>
            <a:br>
              <a:rPr lang="en" sz="1600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</a:b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4"/>
          <p:cNvSpPr txBox="1"/>
          <p:nvPr/>
        </p:nvSpPr>
        <p:spPr>
          <a:xfrm>
            <a:off x="331150" y="368725"/>
            <a:ext cx="8701800" cy="4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Evaluation and Results: </a:t>
            </a:r>
            <a:endParaRPr b="1" sz="19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latin typeface="Roboto Slab"/>
                <a:ea typeface="Roboto Slab"/>
                <a:cs typeface="Roboto Slab"/>
                <a:sym typeface="Roboto Slab"/>
              </a:rPr>
              <a:t>Metrices</a:t>
            </a:r>
            <a:r>
              <a:rPr lang="en" sz="1600">
                <a:latin typeface="Roboto Slab Light"/>
                <a:ea typeface="Roboto Slab Light"/>
                <a:cs typeface="Roboto Slab Light"/>
                <a:sym typeface="Roboto Slab Light"/>
              </a:rPr>
              <a:t> :</a:t>
            </a:r>
            <a:r>
              <a:rPr lang="en" sz="1600">
                <a:latin typeface="Roboto Slab Medium"/>
                <a:ea typeface="Roboto Slab Medium"/>
                <a:cs typeface="Roboto Slab Medium"/>
                <a:sym typeface="Roboto Slab Medium"/>
              </a:rPr>
              <a:t> Loss, Accuracy, and AUC on the test set.</a:t>
            </a:r>
            <a:br>
              <a:rPr lang="en" sz="1600">
                <a:latin typeface="Roboto Slab Medium"/>
                <a:ea typeface="Roboto Slab Medium"/>
                <a:cs typeface="Roboto Slab Medium"/>
                <a:sym typeface="Roboto Slab Medium"/>
              </a:rPr>
            </a:br>
            <a:r>
              <a:rPr lang="en" sz="1600">
                <a:latin typeface="Roboto Slab Medium"/>
                <a:ea typeface="Roboto Slab Medium"/>
                <a:cs typeface="Roboto Slab Medium"/>
                <a:sym typeface="Roboto Slab Medium"/>
              </a:rPr>
              <a:t>	According to the results up to now,</a:t>
            </a:r>
            <a:endParaRPr sz="16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-330200" lvl="0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Roboto Slab Medium"/>
              <a:buChar char="❖"/>
            </a:pPr>
            <a:r>
              <a:rPr lang="en" sz="1600">
                <a:latin typeface="Roboto Slab Medium"/>
                <a:ea typeface="Roboto Slab Medium"/>
                <a:cs typeface="Roboto Slab Medium"/>
                <a:sym typeface="Roboto Slab Medium"/>
              </a:rPr>
              <a:t>Loss  = 0.0589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0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Slab Medium"/>
              <a:buChar char="❖"/>
            </a:pPr>
            <a:r>
              <a:rPr lang="en" sz="1600">
                <a:latin typeface="Roboto Slab Medium"/>
                <a:ea typeface="Roboto Slab Medium"/>
                <a:cs typeface="Roboto Slab Medium"/>
                <a:sym typeface="Roboto Slab Medium"/>
              </a:rPr>
              <a:t>Accuracy  0.8500</a:t>
            </a:r>
            <a:endParaRPr sz="1600"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-330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Slab Light"/>
              <a:buChar char="❖"/>
            </a:pPr>
            <a:r>
              <a:rPr lang="en" sz="1600">
                <a:latin typeface="Roboto Slab Medium"/>
                <a:ea typeface="Roboto Slab Medium"/>
                <a:cs typeface="Roboto Slab Medium"/>
                <a:sym typeface="Roboto Slab Medium"/>
              </a:rPr>
              <a:t>AUC   = 0.9915</a:t>
            </a:r>
            <a:br>
              <a:rPr lang="en" sz="1600">
                <a:latin typeface="Roboto Slab Medium"/>
                <a:ea typeface="Roboto Slab Medium"/>
                <a:cs typeface="Roboto Slab Medium"/>
                <a:sym typeface="Roboto Slab Medium"/>
              </a:rPr>
            </a:br>
            <a:r>
              <a:rPr lang="en" sz="1600">
                <a:latin typeface="Roboto Slab Light"/>
                <a:ea typeface="Roboto Slab Light"/>
                <a:cs typeface="Roboto Slab Light"/>
                <a:sym typeface="Roboto Slab Light"/>
              </a:rPr>
              <a:t>	</a:t>
            </a:r>
            <a:endParaRPr>
              <a:solidFill>
                <a:srgbClr val="66666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90" name="Google Shape;390;p54"/>
          <p:cNvPicPr preferRelativeResize="0"/>
          <p:nvPr/>
        </p:nvPicPr>
        <p:blipFill rotWithShape="1">
          <a:blip r:embed="rId3">
            <a:alphaModFix/>
          </a:blip>
          <a:srcRect b="6168" l="6138" r="11800" t="3382"/>
          <a:stretch/>
        </p:blipFill>
        <p:spPr>
          <a:xfrm>
            <a:off x="1724275" y="2584950"/>
            <a:ext cx="5241775" cy="21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55"/>
          <p:cNvGrpSpPr/>
          <p:nvPr/>
        </p:nvGrpSpPr>
        <p:grpSpPr>
          <a:xfrm>
            <a:off x="4911496" y="1184703"/>
            <a:ext cx="2467458" cy="3429286"/>
            <a:chOff x="-6729413" y="-17360900"/>
            <a:chExt cx="26138326" cy="48436250"/>
          </a:xfrm>
        </p:grpSpPr>
        <p:sp>
          <p:nvSpPr>
            <p:cNvPr id="396" name="Google Shape;396;p55"/>
            <p:cNvSpPr/>
            <p:nvPr/>
          </p:nvSpPr>
          <p:spPr>
            <a:xfrm>
              <a:off x="-6729413" y="-9364662"/>
              <a:ext cx="25398299" cy="2466900"/>
            </a:xfrm>
            <a:custGeom>
              <a:rect b="b" l="l" r="r" t="t"/>
              <a:pathLst>
                <a:path extrusionOk="0" h="120000" w="120000">
                  <a:moveTo>
                    <a:pt x="120000" y="119999"/>
                  </a:moveTo>
                  <a:lnTo>
                    <a:pt x="0" y="0"/>
                  </a:lnTo>
                  <a:lnTo>
                    <a:pt x="11145" y="119999"/>
                  </a:lnTo>
                  <a:lnTo>
                    <a:pt x="120000" y="11999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55"/>
            <p:cNvSpPr/>
            <p:nvPr/>
          </p:nvSpPr>
          <p:spPr>
            <a:xfrm>
              <a:off x="3276600" y="-17360900"/>
              <a:ext cx="10882200" cy="8842500"/>
            </a:xfrm>
            <a:custGeom>
              <a:rect b="b" l="l" r="r" t="t"/>
              <a:pathLst>
                <a:path extrusionOk="0" h="120000" w="120000">
                  <a:moveTo>
                    <a:pt x="102547" y="0"/>
                  </a:moveTo>
                  <a:lnTo>
                    <a:pt x="0" y="120000"/>
                  </a:lnTo>
                  <a:lnTo>
                    <a:pt x="119999" y="109486"/>
                  </a:lnTo>
                  <a:lnTo>
                    <a:pt x="102547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55"/>
            <p:cNvSpPr/>
            <p:nvPr/>
          </p:nvSpPr>
          <p:spPr>
            <a:xfrm>
              <a:off x="12576175" y="-17360900"/>
              <a:ext cx="6832500" cy="104631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2193"/>
                  </a:lnTo>
                  <a:lnTo>
                    <a:pt x="107007" y="120000"/>
                  </a:lnTo>
                  <a:lnTo>
                    <a:pt x="27797" y="9252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55"/>
            <p:cNvSpPr/>
            <p:nvPr/>
          </p:nvSpPr>
          <p:spPr>
            <a:xfrm>
              <a:off x="-6729413" y="-9364662"/>
              <a:ext cx="2358900" cy="2466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19999" y="119999"/>
                  </a:lnTo>
                  <a:lnTo>
                    <a:pt x="21561" y="11999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55"/>
            <p:cNvSpPr/>
            <p:nvPr/>
          </p:nvSpPr>
          <p:spPr>
            <a:xfrm>
              <a:off x="-6729413" y="-9364662"/>
              <a:ext cx="10005900" cy="2466900"/>
            </a:xfrm>
            <a:custGeom>
              <a:rect b="b" l="l" r="r" t="t"/>
              <a:pathLst>
                <a:path extrusionOk="0" h="120000" w="120000">
                  <a:moveTo>
                    <a:pt x="120000" y="41158"/>
                  </a:moveTo>
                  <a:lnTo>
                    <a:pt x="116173" y="119999"/>
                  </a:lnTo>
                  <a:lnTo>
                    <a:pt x="28291" y="119999"/>
                  </a:lnTo>
                  <a:lnTo>
                    <a:pt x="0" y="0"/>
                  </a:lnTo>
                  <a:lnTo>
                    <a:pt x="120000" y="4115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55"/>
            <p:cNvSpPr/>
            <p:nvPr/>
          </p:nvSpPr>
          <p:spPr>
            <a:xfrm>
              <a:off x="-6729413" y="-17360900"/>
              <a:ext cx="19305601" cy="88425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62195" y="120000"/>
                  </a:lnTo>
                  <a:lnTo>
                    <a:pt x="0" y="108517"/>
                  </a:lnTo>
                  <a:lnTo>
                    <a:pt x="60656" y="80315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55"/>
            <p:cNvSpPr/>
            <p:nvPr/>
          </p:nvSpPr>
          <p:spPr>
            <a:xfrm>
              <a:off x="12752387" y="-9293225"/>
              <a:ext cx="5916600" cy="2395500"/>
            </a:xfrm>
            <a:custGeom>
              <a:rect b="b" l="l" r="r" t="t"/>
              <a:pathLst>
                <a:path extrusionOk="0" h="120000" w="120000">
                  <a:moveTo>
                    <a:pt x="28526" y="0"/>
                  </a:moveTo>
                  <a:lnTo>
                    <a:pt x="120000" y="120000"/>
                  </a:lnTo>
                  <a:lnTo>
                    <a:pt x="0" y="120000"/>
                  </a:lnTo>
                  <a:lnTo>
                    <a:pt x="28526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55"/>
            <p:cNvSpPr/>
            <p:nvPr/>
          </p:nvSpPr>
          <p:spPr>
            <a:xfrm>
              <a:off x="3276600" y="-8518525"/>
              <a:ext cx="4192500" cy="1620900"/>
            </a:xfrm>
            <a:custGeom>
              <a:rect b="b" l="l" r="r" t="t"/>
              <a:pathLst>
                <a:path extrusionOk="0" h="120000" w="120000">
                  <a:moveTo>
                    <a:pt x="16084" y="120000"/>
                  </a:moveTo>
                  <a:lnTo>
                    <a:pt x="0" y="0"/>
                  </a:lnTo>
                  <a:lnTo>
                    <a:pt x="120000" y="120000"/>
                  </a:lnTo>
                  <a:lnTo>
                    <a:pt x="16084" y="1200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55"/>
            <p:cNvSpPr/>
            <p:nvPr/>
          </p:nvSpPr>
          <p:spPr>
            <a:xfrm>
              <a:off x="-6729413" y="-9364662"/>
              <a:ext cx="2358900" cy="2466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19999" y="119999"/>
                  </a:lnTo>
                  <a:lnTo>
                    <a:pt x="21561" y="11999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55"/>
            <p:cNvSpPr/>
            <p:nvPr/>
          </p:nvSpPr>
          <p:spPr>
            <a:xfrm>
              <a:off x="-6729413" y="-11442700"/>
              <a:ext cx="10005900" cy="2924100"/>
            </a:xfrm>
            <a:custGeom>
              <a:rect b="b" l="l" r="r" t="t"/>
              <a:pathLst>
                <a:path extrusionOk="0" h="120000" w="120000">
                  <a:moveTo>
                    <a:pt x="117029" y="0"/>
                  </a:moveTo>
                  <a:lnTo>
                    <a:pt x="120000" y="120000"/>
                  </a:lnTo>
                  <a:lnTo>
                    <a:pt x="0" y="85276"/>
                  </a:lnTo>
                  <a:lnTo>
                    <a:pt x="117029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55"/>
            <p:cNvSpPr/>
            <p:nvPr/>
          </p:nvSpPr>
          <p:spPr>
            <a:xfrm>
              <a:off x="14158913" y="-11938000"/>
              <a:ext cx="5250000" cy="50403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0" y="62966"/>
                  </a:lnTo>
                  <a:lnTo>
                    <a:pt x="103090" y="119999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55"/>
            <p:cNvSpPr/>
            <p:nvPr/>
          </p:nvSpPr>
          <p:spPr>
            <a:xfrm>
              <a:off x="2957512" y="-8518525"/>
              <a:ext cx="881100" cy="16209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43459" y="0"/>
                  </a:lnTo>
                  <a:lnTo>
                    <a:pt x="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55"/>
            <p:cNvSpPr/>
            <p:nvPr/>
          </p:nvSpPr>
          <p:spPr>
            <a:xfrm>
              <a:off x="11728450" y="-6897687"/>
              <a:ext cx="6940500" cy="156417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18188" y="67289"/>
                  </a:lnTo>
                  <a:lnTo>
                    <a:pt x="0" y="120000"/>
                  </a:lnTo>
                  <a:lnTo>
                    <a:pt x="0" y="12970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55"/>
            <p:cNvSpPr/>
            <p:nvPr/>
          </p:nvSpPr>
          <p:spPr>
            <a:xfrm>
              <a:off x="-4899025" y="-698500"/>
              <a:ext cx="6378600" cy="176133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68929" y="119999"/>
                  </a:lnTo>
                  <a:lnTo>
                    <a:pt x="0" y="17748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55"/>
            <p:cNvSpPr/>
            <p:nvPr/>
          </p:nvSpPr>
          <p:spPr>
            <a:xfrm>
              <a:off x="-4370388" y="-6897687"/>
              <a:ext cx="7327800" cy="61992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95797" y="120000"/>
                  </a:ln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55"/>
            <p:cNvSpPr/>
            <p:nvPr/>
          </p:nvSpPr>
          <p:spPr>
            <a:xfrm>
              <a:off x="9578975" y="8743950"/>
              <a:ext cx="4263900" cy="22331400"/>
            </a:xfrm>
            <a:custGeom>
              <a:rect b="b" l="l" r="r" t="t"/>
              <a:pathLst>
                <a:path extrusionOk="0" h="120000" w="120000">
                  <a:moveTo>
                    <a:pt x="60491" y="0"/>
                  </a:moveTo>
                  <a:lnTo>
                    <a:pt x="120000" y="33491"/>
                  </a:lnTo>
                  <a:lnTo>
                    <a:pt x="0" y="119999"/>
                  </a:lnTo>
                  <a:lnTo>
                    <a:pt x="60491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55"/>
            <p:cNvSpPr/>
            <p:nvPr/>
          </p:nvSpPr>
          <p:spPr>
            <a:xfrm>
              <a:off x="11728450" y="-6897687"/>
              <a:ext cx="6940500" cy="16908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0" y="120000"/>
                  </a:lnTo>
                  <a:lnTo>
                    <a:pt x="17703" y="0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55"/>
            <p:cNvSpPr/>
            <p:nvPr/>
          </p:nvSpPr>
          <p:spPr>
            <a:xfrm>
              <a:off x="3838575" y="-6897687"/>
              <a:ext cx="7890000" cy="9791700"/>
            </a:xfrm>
            <a:custGeom>
              <a:rect b="b" l="l" r="r" t="t"/>
              <a:pathLst>
                <a:path extrusionOk="0" h="120000" w="120000">
                  <a:moveTo>
                    <a:pt x="48193" y="119999"/>
                  </a:moveTo>
                  <a:lnTo>
                    <a:pt x="0" y="0"/>
                  </a:lnTo>
                  <a:lnTo>
                    <a:pt x="55219" y="0"/>
                  </a:lnTo>
                  <a:lnTo>
                    <a:pt x="119999" y="20719"/>
                  </a:lnTo>
                  <a:lnTo>
                    <a:pt x="48193" y="11999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55"/>
            <p:cNvSpPr/>
            <p:nvPr/>
          </p:nvSpPr>
          <p:spPr>
            <a:xfrm>
              <a:off x="-1235075" y="-698500"/>
              <a:ext cx="8242200" cy="17613300"/>
            </a:xfrm>
            <a:custGeom>
              <a:rect b="b" l="l" r="r" t="t"/>
              <a:pathLst>
                <a:path extrusionOk="0" h="120000" w="120000">
                  <a:moveTo>
                    <a:pt x="120000" y="24475"/>
                  </a:moveTo>
                  <a:lnTo>
                    <a:pt x="39522" y="0"/>
                  </a:lnTo>
                  <a:lnTo>
                    <a:pt x="0" y="119999"/>
                  </a:lnTo>
                  <a:lnTo>
                    <a:pt x="120000" y="24475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55"/>
            <p:cNvSpPr/>
            <p:nvPr/>
          </p:nvSpPr>
          <p:spPr>
            <a:xfrm>
              <a:off x="-1235075" y="-5207000"/>
              <a:ext cx="12963600" cy="221217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0" y="120000"/>
                  </a:lnTo>
                  <a:lnTo>
                    <a:pt x="120000" y="75677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55"/>
            <p:cNvSpPr/>
            <p:nvPr/>
          </p:nvSpPr>
          <p:spPr>
            <a:xfrm>
              <a:off x="-6305550" y="-6897687"/>
              <a:ext cx="7785000" cy="8804400"/>
            </a:xfrm>
            <a:custGeom>
              <a:rect b="b" l="l" r="r" t="t"/>
              <a:pathLst>
                <a:path extrusionOk="0" h="120000" w="120000">
                  <a:moveTo>
                    <a:pt x="29828" y="0"/>
                  </a:moveTo>
                  <a:lnTo>
                    <a:pt x="120000" y="84493"/>
                  </a:lnTo>
                  <a:lnTo>
                    <a:pt x="21680" y="120000"/>
                  </a:lnTo>
                  <a:lnTo>
                    <a:pt x="0" y="0"/>
                  </a:lnTo>
                  <a:lnTo>
                    <a:pt x="29828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55"/>
            <p:cNvSpPr/>
            <p:nvPr/>
          </p:nvSpPr>
          <p:spPr>
            <a:xfrm>
              <a:off x="11728450" y="-6897687"/>
              <a:ext cx="6940500" cy="87708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0" y="23131"/>
                  </a:lnTo>
                  <a:lnTo>
                    <a:pt x="118188" y="120000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55"/>
            <p:cNvSpPr/>
            <p:nvPr/>
          </p:nvSpPr>
          <p:spPr>
            <a:xfrm>
              <a:off x="1479550" y="-6897687"/>
              <a:ext cx="5527800" cy="9791700"/>
            </a:xfrm>
            <a:custGeom>
              <a:rect b="b" l="l" r="r" t="t"/>
              <a:pathLst>
                <a:path extrusionOk="0" h="120000" w="120000">
                  <a:moveTo>
                    <a:pt x="0" y="75972"/>
                  </a:moveTo>
                  <a:lnTo>
                    <a:pt x="119999" y="119999"/>
                  </a:lnTo>
                  <a:lnTo>
                    <a:pt x="51211" y="0"/>
                  </a:lnTo>
                  <a:lnTo>
                    <a:pt x="32085" y="0"/>
                  </a:lnTo>
                  <a:lnTo>
                    <a:pt x="0" y="7597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55"/>
            <p:cNvSpPr/>
            <p:nvPr/>
          </p:nvSpPr>
          <p:spPr>
            <a:xfrm>
              <a:off x="-1373188" y="8743950"/>
              <a:ext cx="13101600" cy="13630199"/>
            </a:xfrm>
            <a:custGeom>
              <a:rect b="b" l="l" r="r" t="t"/>
              <a:pathLst>
                <a:path extrusionOk="0" h="120000" w="120000">
                  <a:moveTo>
                    <a:pt x="0" y="71642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7164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55"/>
            <p:cNvSpPr/>
            <p:nvPr/>
          </p:nvSpPr>
          <p:spPr>
            <a:xfrm>
              <a:off x="2994025" y="8743950"/>
              <a:ext cx="8734500" cy="22331400"/>
            </a:xfrm>
            <a:custGeom>
              <a:rect b="b" l="l" r="r" t="t"/>
              <a:pathLst>
                <a:path extrusionOk="0" h="120000" w="120000">
                  <a:moveTo>
                    <a:pt x="0" y="73243"/>
                  </a:moveTo>
                  <a:lnTo>
                    <a:pt x="90468" y="119999"/>
                  </a:lnTo>
                  <a:lnTo>
                    <a:pt x="120000" y="0"/>
                  </a:lnTo>
                  <a:lnTo>
                    <a:pt x="0" y="73243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55"/>
            <p:cNvSpPr/>
            <p:nvPr/>
          </p:nvSpPr>
          <p:spPr>
            <a:xfrm>
              <a:off x="11728450" y="1873250"/>
              <a:ext cx="6835800" cy="131031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37120" y="120000"/>
                  </a:lnTo>
                  <a:lnTo>
                    <a:pt x="0" y="62922"/>
                  </a:lnTo>
                  <a:lnTo>
                    <a:pt x="12000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55"/>
            <p:cNvSpPr/>
            <p:nvPr/>
          </p:nvSpPr>
          <p:spPr>
            <a:xfrm>
              <a:off x="3276600" y="-9293225"/>
              <a:ext cx="10882200" cy="2395500"/>
            </a:xfrm>
            <a:custGeom>
              <a:rect b="b" l="l" r="r" t="t"/>
              <a:pathLst>
                <a:path extrusionOk="0" h="120000" w="120000">
                  <a:moveTo>
                    <a:pt x="0" y="38807"/>
                  </a:moveTo>
                  <a:lnTo>
                    <a:pt x="119999" y="0"/>
                  </a:lnTo>
                  <a:lnTo>
                    <a:pt x="104490" y="120000"/>
                  </a:lnTo>
                  <a:lnTo>
                    <a:pt x="46231" y="120000"/>
                  </a:lnTo>
                  <a:lnTo>
                    <a:pt x="0" y="38807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55"/>
            <p:cNvSpPr/>
            <p:nvPr/>
          </p:nvSpPr>
          <p:spPr>
            <a:xfrm>
              <a:off x="7469187" y="-6897687"/>
              <a:ext cx="5283300" cy="1690800"/>
            </a:xfrm>
            <a:custGeom>
              <a:rect b="b" l="l" r="r" t="t"/>
              <a:pathLst>
                <a:path extrusionOk="0" h="120000" w="120000">
                  <a:moveTo>
                    <a:pt x="96742" y="120000"/>
                  </a:moveTo>
                  <a:lnTo>
                    <a:pt x="120000" y="0"/>
                  </a:lnTo>
                  <a:lnTo>
                    <a:pt x="0" y="0"/>
                  </a:lnTo>
                  <a:lnTo>
                    <a:pt x="96742" y="1200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12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4" name="Google Shape;424;p55"/>
          <p:cNvSpPr txBox="1"/>
          <p:nvPr>
            <p:ph type="title"/>
          </p:nvPr>
        </p:nvSpPr>
        <p:spPr>
          <a:xfrm>
            <a:off x="57210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Challenges</a:t>
            </a:r>
            <a:endParaRPr sz="3800"/>
          </a:p>
        </p:txBody>
      </p:sp>
      <p:sp>
        <p:nvSpPr>
          <p:cNvPr id="425" name="Google Shape;425;p55"/>
          <p:cNvSpPr/>
          <p:nvPr/>
        </p:nvSpPr>
        <p:spPr>
          <a:xfrm>
            <a:off x="0" y="1928808"/>
            <a:ext cx="9144000" cy="3214800"/>
          </a:xfrm>
          <a:prstGeom prst="rect">
            <a:avLst/>
          </a:prstGeom>
          <a:solidFill>
            <a:srgbClr val="9FC5E8">
              <a:alpha val="4591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5"/>
          <p:cNvSpPr/>
          <p:nvPr/>
        </p:nvSpPr>
        <p:spPr>
          <a:xfrm>
            <a:off x="572100" y="1252450"/>
            <a:ext cx="8205900" cy="24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Requirement of Labeled Multi-Signal Datasets</a:t>
            </a:r>
            <a:endParaRPr sz="1500">
              <a:solidFill>
                <a:srgbClr val="263238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63238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Data Understanding &amp; Preprocessing Complexity</a:t>
            </a:r>
            <a:endParaRPr sz="1500">
              <a:solidFill>
                <a:srgbClr val="263238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(</a:t>
            </a:r>
            <a:r>
              <a:rPr lang="en" sz="1500">
                <a:solidFill>
                  <a:schemeClr val="accent3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Each signal type requires different filtering, segmentation, and normalization techniques</a:t>
            </a:r>
            <a: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.)</a:t>
            </a:r>
            <a:b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</a:br>
            <a:endParaRPr sz="1500">
              <a:solidFill>
                <a:srgbClr val="263238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Model Architecture Selection</a:t>
            </a:r>
            <a:endParaRPr sz="1500">
              <a:solidFill>
                <a:srgbClr val="263238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(</a:t>
            </a:r>
            <a:r>
              <a:rPr lang="en" sz="1500">
                <a:solidFill>
                  <a:schemeClr val="accent3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Choosing and tuning between attention models, CNNs, and transfer learning</a:t>
            </a:r>
            <a: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)</a:t>
            </a:r>
            <a:endParaRPr sz="1500">
              <a:solidFill>
                <a:srgbClr val="263238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63238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Lack of Unified Diagnosis</a:t>
            </a:r>
            <a:endParaRPr sz="1500">
              <a:solidFill>
                <a:srgbClr val="263238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(</a:t>
            </a:r>
            <a:r>
              <a:rPr lang="en" sz="1500">
                <a:solidFill>
                  <a:schemeClr val="accent3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Some datasets might be labeled only for general health status or event types, not specific CVD categories</a:t>
            </a:r>
            <a:r>
              <a:rPr lang="en" sz="1100">
                <a:solidFill>
                  <a:srgbClr val="263238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 )</a:t>
            </a:r>
            <a:endParaRPr sz="1500">
              <a:solidFill>
                <a:srgbClr val="263238"/>
              </a:solidFill>
              <a:latin typeface="Roboto Slab Medium"/>
              <a:ea typeface="Roboto Slab Medium"/>
              <a:cs typeface="Roboto Slab Medium"/>
              <a:sym typeface="Roboto Slab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27" name="Google Shape;427;p5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Gantt Chart</a:t>
            </a:r>
            <a:endParaRPr sz="3700"/>
          </a:p>
        </p:txBody>
      </p:sp>
      <p:sp>
        <p:nvSpPr>
          <p:cNvPr id="433" name="Google Shape;433;p5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4" name="Google Shape;434;p56"/>
          <p:cNvPicPr preferRelativeResize="0"/>
          <p:nvPr/>
        </p:nvPicPr>
        <p:blipFill rotWithShape="1">
          <a:blip r:embed="rId3">
            <a:alphaModFix/>
          </a:blip>
          <a:srcRect b="2239" l="2440" r="2212" t="2057"/>
          <a:stretch/>
        </p:blipFill>
        <p:spPr>
          <a:xfrm>
            <a:off x="4300325" y="1210425"/>
            <a:ext cx="4344975" cy="2722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5" name="Google Shape;43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825" y="1210425"/>
            <a:ext cx="3830176" cy="27226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7"/>
          <p:cNvSpPr txBox="1"/>
          <p:nvPr>
            <p:ph type="title"/>
          </p:nvPr>
        </p:nvSpPr>
        <p:spPr>
          <a:xfrm>
            <a:off x="364125" y="26675"/>
            <a:ext cx="23472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In Progress</a:t>
            </a:r>
            <a:endParaRPr/>
          </a:p>
        </p:txBody>
      </p:sp>
      <p:sp>
        <p:nvSpPr>
          <p:cNvPr id="441" name="Google Shape;441;p5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57"/>
          <p:cNvSpPr txBox="1"/>
          <p:nvPr/>
        </p:nvSpPr>
        <p:spPr>
          <a:xfrm>
            <a:off x="2047275" y="493825"/>
            <a:ext cx="1683000" cy="157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Working on removing baseline wander and Gaussian noise from the signals using CEEMDAN method</a:t>
            </a:r>
            <a:endParaRPr b="1"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3" name="Google Shape;443;p57"/>
          <p:cNvSpPr txBox="1"/>
          <p:nvPr/>
        </p:nvSpPr>
        <p:spPr>
          <a:xfrm>
            <a:off x="2047275" y="2069180"/>
            <a:ext cx="1683000" cy="157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Testing Attention based model on ECG features</a:t>
            </a:r>
            <a:endParaRPr b="1" sz="1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4" name="Google Shape;444;p57"/>
          <p:cNvSpPr txBox="1"/>
          <p:nvPr/>
        </p:nvSpPr>
        <p:spPr>
          <a:xfrm>
            <a:off x="3730425" y="493825"/>
            <a:ext cx="1683000" cy="3150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A1E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Error handling and ensuring validation logic is robust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5" name="Google Shape;445;p57"/>
          <p:cNvSpPr txBox="1"/>
          <p:nvPr/>
        </p:nvSpPr>
        <p:spPr>
          <a:xfrm>
            <a:off x="5413575" y="493825"/>
            <a:ext cx="1683000" cy="1575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Design Fusion Strategy</a:t>
            </a:r>
            <a:endParaRPr b="1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6" name="Google Shape;446;p57"/>
          <p:cNvSpPr txBox="1"/>
          <p:nvPr/>
        </p:nvSpPr>
        <p:spPr>
          <a:xfrm>
            <a:off x="5413575" y="2069180"/>
            <a:ext cx="1683000" cy="1575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</a:t>
            </a:r>
            <a:r>
              <a:rPr b="1" lang="en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xtend the current architecture to accept multiple input branches</a:t>
            </a:r>
            <a:endParaRPr b="1" sz="12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7" name="Google Shape;447;p57"/>
          <p:cNvSpPr txBox="1"/>
          <p:nvPr/>
        </p:nvSpPr>
        <p:spPr>
          <a:xfrm>
            <a:off x="7096725" y="493825"/>
            <a:ext cx="1683000" cy="3150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br>
              <a:rPr b="1" lang="en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en" sz="12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planning to integrate Explainable AI (XAI) techniques into model to understand which parts of the signals influence the prediction most.</a:t>
            </a:r>
            <a:endParaRPr b="1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8" name="Google Shape;448;p57"/>
          <p:cNvSpPr txBox="1"/>
          <p:nvPr/>
        </p:nvSpPr>
        <p:spPr>
          <a:xfrm>
            <a:off x="364125" y="493825"/>
            <a:ext cx="1683000" cy="3150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Continue search datasets for multi-signal inputs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9" name="Google Shape;449;p57"/>
          <p:cNvSpPr txBox="1"/>
          <p:nvPr/>
        </p:nvSpPr>
        <p:spPr>
          <a:xfrm>
            <a:off x="649725" y="3644534"/>
            <a:ext cx="4207800" cy="12201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Improve generalizability  of the model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</a:t>
            </a:r>
            <a:endParaRPr b="1"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0" name="Google Shape;450;p57"/>
          <p:cNvSpPr txBox="1"/>
          <p:nvPr/>
        </p:nvSpPr>
        <p:spPr>
          <a:xfrm>
            <a:off x="4857525" y="3644525"/>
            <a:ext cx="3922200" cy="1220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Need for a preprocessing pipeline to normalize and align multi-modal signals.</a:t>
            </a:r>
            <a:endParaRPr b="1" sz="13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1" name="Google Shape;451;p57"/>
          <p:cNvSpPr/>
          <p:nvPr/>
        </p:nvSpPr>
        <p:spPr>
          <a:xfrm>
            <a:off x="4286312" y="3719651"/>
            <a:ext cx="211273" cy="212538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7"/>
          <p:cNvSpPr/>
          <p:nvPr/>
        </p:nvSpPr>
        <p:spPr>
          <a:xfrm>
            <a:off x="6811641" y="569177"/>
            <a:ext cx="210666" cy="191349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7"/>
          <p:cNvSpPr/>
          <p:nvPr/>
        </p:nvSpPr>
        <p:spPr>
          <a:xfrm>
            <a:off x="1770102" y="569172"/>
            <a:ext cx="202661" cy="205065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7"/>
          <p:cNvSpPr/>
          <p:nvPr/>
        </p:nvSpPr>
        <p:spPr>
          <a:xfrm>
            <a:off x="8512669" y="569100"/>
            <a:ext cx="192798" cy="205680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5" name="Google Shape;455;p57"/>
          <p:cNvGrpSpPr/>
          <p:nvPr/>
        </p:nvGrpSpPr>
        <p:grpSpPr>
          <a:xfrm>
            <a:off x="8482889" y="3719564"/>
            <a:ext cx="222362" cy="163303"/>
            <a:chOff x="4604550" y="3714775"/>
            <a:chExt cx="439625" cy="319075"/>
          </a:xfrm>
        </p:grpSpPr>
        <p:sp>
          <p:nvSpPr>
            <p:cNvPr id="456" name="Google Shape;456;p57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57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8" name="Google Shape;458;p57"/>
          <p:cNvGrpSpPr/>
          <p:nvPr/>
        </p:nvGrpSpPr>
        <p:grpSpPr>
          <a:xfrm>
            <a:off x="5154880" y="568971"/>
            <a:ext cx="184187" cy="237475"/>
            <a:chOff x="1959600" y="4980625"/>
            <a:chExt cx="364150" cy="464000"/>
          </a:xfrm>
        </p:grpSpPr>
        <p:sp>
          <p:nvSpPr>
            <p:cNvPr id="459" name="Google Shape;459;p57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57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57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7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57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57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57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57"/>
          <p:cNvGrpSpPr/>
          <p:nvPr/>
        </p:nvGrpSpPr>
        <p:grpSpPr>
          <a:xfrm>
            <a:off x="6749663" y="2144173"/>
            <a:ext cx="272259" cy="264268"/>
            <a:chOff x="5233525" y="4954450"/>
            <a:chExt cx="538275" cy="516350"/>
          </a:xfrm>
        </p:grpSpPr>
        <p:sp>
          <p:nvSpPr>
            <p:cNvPr id="467" name="Google Shape;467;p57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57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7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7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57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57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7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7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7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7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7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8" name="Google Shape;478;p57"/>
          <p:cNvGrpSpPr/>
          <p:nvPr/>
        </p:nvGrpSpPr>
        <p:grpSpPr>
          <a:xfrm>
            <a:off x="3386590" y="2144175"/>
            <a:ext cx="277191" cy="254928"/>
            <a:chOff x="4556450" y="4963575"/>
            <a:chExt cx="548025" cy="498100"/>
          </a:xfrm>
        </p:grpSpPr>
        <p:sp>
          <p:nvSpPr>
            <p:cNvPr id="479" name="Google Shape;479;p57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7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7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7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57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4" name="Google Shape;484;p57"/>
          <p:cNvSpPr/>
          <p:nvPr/>
        </p:nvSpPr>
        <p:spPr>
          <a:xfrm>
            <a:off x="3433676" y="569177"/>
            <a:ext cx="222349" cy="225040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7"/>
          <p:cNvSpPr txBox="1"/>
          <p:nvPr/>
        </p:nvSpPr>
        <p:spPr>
          <a:xfrm>
            <a:off x="5413425" y="26675"/>
            <a:ext cx="33663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Work planning to proceed</a:t>
            </a:r>
            <a:endParaRPr sz="20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8"/>
          <p:cNvSpPr txBox="1"/>
          <p:nvPr>
            <p:ph type="ctrTitle"/>
          </p:nvPr>
        </p:nvSpPr>
        <p:spPr>
          <a:xfrm>
            <a:off x="794450" y="-152681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Reference</a:t>
            </a:r>
            <a:endParaRPr/>
          </a:p>
        </p:txBody>
      </p:sp>
      <p:sp>
        <p:nvSpPr>
          <p:cNvPr id="491" name="Google Shape;491;p58"/>
          <p:cNvSpPr txBox="1"/>
          <p:nvPr>
            <p:ph idx="1" type="subTitle"/>
          </p:nvPr>
        </p:nvSpPr>
        <p:spPr>
          <a:xfrm>
            <a:off x="-117425" y="696425"/>
            <a:ext cx="83451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Char char="○"/>
            </a:pP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C. Guo, B. Yin, and J. Hu, “An Electrocardiogram Classification Using a Multiscale Convolutional Causal Attention Network,” </a:t>
            </a:r>
            <a:r>
              <a:rPr i="1"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Electronics</a:t>
            </a: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, vol. 13, no. 2, pp. 326–326, Jan. 2024, doi: </a:t>
            </a:r>
            <a:r>
              <a:rPr lang="en" sz="11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https://doi.org/10.3390/electronics13020326.</a:t>
            </a:r>
            <a:endParaRPr sz="11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Char char="●"/>
            </a:pPr>
            <a:r>
              <a:t/>
            </a:r>
            <a:endParaRPr sz="9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Char char="○"/>
            </a:pP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Y. Ansari, O. Abou, K. A. Qaraqe, and Erchin Serpedin, “Deep learning for ECG Arrhythmia detection and classification: an overview of progress for period 2017–2023,” </a:t>
            </a:r>
            <a:r>
              <a:rPr i="1"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Frontiers in Physiology</a:t>
            </a: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, vol. 14, Sep. 2023, doi:  </a:t>
            </a:r>
            <a:r>
              <a:rPr lang="en" sz="11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4"/>
              </a:rPr>
              <a:t>https://doi.org/10.3389/fphys.2023.1246746.</a:t>
            </a:r>
            <a:endParaRPr sz="11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Char char="○"/>
            </a:pP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L. Niu, C. Chen, H. Liu, S. Zhou, and M. Shu, “A Deep-Learning Approach to ECG Classification Based on Adversarial Domain Adaptation,” </a:t>
            </a:r>
            <a:r>
              <a:rPr i="1"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Healthcare</a:t>
            </a: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, vol. 8, no. 4, p. 437, Oct. 2020, doi: </a:t>
            </a:r>
            <a:r>
              <a:rPr lang="en" sz="11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5"/>
              </a:rPr>
              <a:t>https://doi.org/10.3390/healthcare8040437</a:t>
            </a: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 sz="11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●"/>
            </a:pP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Y. Liu </a:t>
            </a:r>
            <a:r>
              <a:rPr i="1"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et al.</a:t>
            </a: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, “Generalizable Beat-by-Beat Arrhythmia Detection by Using Weakly Supervised Deep Learning,” </a:t>
            </a:r>
            <a:r>
              <a:rPr i="1"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Frontiers in Physiology</a:t>
            </a: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, vol. 13, Mar. 2022, doi: </a:t>
            </a:r>
            <a:r>
              <a:rPr lang="en" sz="11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6"/>
              </a:rPr>
              <a:t>https://doi.org/10.3389/fphys.2022.850951</a:t>
            </a: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 sz="11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“Papers with Code - Reading Between the Leads: Local Lead-Attention Based Classification of Electrocardiogram Signals,” </a:t>
            </a:r>
            <a:r>
              <a:rPr i="1"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Paperswithcode.com</a:t>
            </a: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, 2021. </a:t>
            </a:r>
            <a:r>
              <a:rPr lang="en" sz="11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7"/>
              </a:rPr>
              <a:t>https://paperswithcode.com/paper/reading-between-the-leads-local-lead</a:t>
            </a:r>
            <a:r>
              <a:rPr lang="en" sz="1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(accessed Jun. 09, 2025)</a:t>
            </a:r>
            <a:r>
              <a:rPr lang="en" sz="12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 sz="12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"/>
          <p:cNvSpPr txBox="1"/>
          <p:nvPr>
            <p:ph type="ctrTitle"/>
          </p:nvPr>
        </p:nvSpPr>
        <p:spPr>
          <a:xfrm>
            <a:off x="1723685" y="1768725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/>
              <a:t>Thank you!</a:t>
            </a:r>
            <a:endParaRPr b="1" sz="5400"/>
          </a:p>
        </p:txBody>
      </p:sp>
      <p:sp>
        <p:nvSpPr>
          <p:cNvPr id="497" name="Google Shape;497;p59"/>
          <p:cNvSpPr txBox="1"/>
          <p:nvPr>
            <p:ph idx="4294967295" type="subTitle"/>
          </p:nvPr>
        </p:nvSpPr>
        <p:spPr>
          <a:xfrm>
            <a:off x="1434700" y="2661563"/>
            <a:ext cx="6593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/>
              <a:t>Any questions?</a:t>
            </a:r>
            <a:endParaRPr b="1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9FC5E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